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Ujjwal Jain, and this is my final DevOps project. CampusSlot is a small booking service for rooms and labs. The application is deliberately small, because the real subject of this project is everything around it: how the code is tested, packaged, scanned, shipped, deployed and watched, and what I do when something breaks. The one rule that the application guarantees is that two confirmed bookings can never overlap in the same room.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picture on one slide. On the top row, I push code to GitHub, and GitHub Actions tests it, scans it for problems, builds two container images and stores them in a registry. In the middle, Argo CD watches the desired state in Git and applies it to the Kubernetes cluster, where the website, the API and the database run. At the bottom left, Terraform builds the cloud network and cluster on AWS from code, and at the bottom right, Prometheus, Loki and Grafana show me what the running system is doing.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application. The page shows a day view for every room, with the bookings as coloured blocks, and a few numbers at the top such as utilisation. On a phone, the same page re-arranges itself into one column. The interesting part is the rule that protects the bookings. A request is first checked for sense, for example an end time before the start time. Then the service looks for an overlapping booking and answers with a conflict, naming the booking that is in the way. Finally, the PostgreSQL database itself has a constraint that makes an overlap impossible, even if two people press the button at exactly the same moment. A booking from 10 to 11 and another from 11 to 12 are allowed, because they only touch.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is in one public repository. Every commit message says what changed and why, for example adding the migration, adding the Trivy gate, or fixing a failing smoke test. I did not manufacture commits: the history includes my failures, such as the red pipeline runs, because those are part of the story. The folders are named after what they do, so a reviewer can find the backend, the frontend, the Helm chart, the Terraform, the GitOps files and the evidence quickly.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Docker Compose, one command starts the website, the API and the database. Both of my images run as a normal user and not as root, which limits the damage if something goes wrong. I proved that the data is safe by taking the whole stack down, starting it again, and finding the booking still there, because the database lives on a named volume.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in GitHub Actions. When I push code, the tests run, the dependencies and the history are checked for known problems, and the frontend is built. Only if all of that passes are the two images built, scanned and pushed to the registry, tagged with the exact commit. Then the chart is installed into a temporary Kubernetes cluster and the real application is tested through the ingress. A full green run took about four minutes. The pipeline was red a few times while I built it, and each failure taught me something that is written up in the README.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scans both images for known vulnerabilities, and the build fails if a serious one has a fix available. On every run, the result was zero, so I have no failing scan to show, and I did not invent one. A clean result means that, on that day, no known fixable problem was found. It does not prove the images are safe, because new vulnerabilities appear every day, and the gate exists to catch them on the day they do. Next to Trivy, there are checks for the code, for the Python and JavaScript libraries, and for secrets in the whole Git history. The images are published with the commit as their tag, so every running version can be traced to one commit.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describes the AWS network and a Kubernetes cluster as code. The plan listed 48 resources. I applied it for real, checked that the cluster and the node were healthy, and destroyed everything about 45 minutes later. The first apply failed, because I had not told the subnets to hand out public addresses, and I found that by asking EKS for the health of the node group. The network deliberately has no NAT gateway, to save money, and the README explains what a production design would do instead. A final check found nothing left running, and the estimated cost was about ten US cents.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is packaged as a Helm chart and installed into Kubernetes. There are two copies each of the website and the API, so one can fail without anyone noticing. A single entrance, the ingress, sends the root path to the website and the api path to the API. When I generated heavy load, the autoscaler grew the API from 2 to 5 copies, and it shrank back to 2 when the load stopped. The settings live in a ConfigMap and the database password lives in a Secret that is never stored in Git.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Prometheus collects numbers from every API copy, such as requests per second, how long requests take, and how many errors occur. Loki collects the logs, which the application writes as structured lines. The dashboard shows both. For example, the panel at the bottom left counts rejected bookings straight from the logs, and in my test it counted exactly 105, the same number of double bookings that my traffic generator created. The scaling from 2 to 5 copies is also visible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GitOps means the cluster follows what is committed in Git. I promoted a new build by changing one line in a file, and Argo CD rolled it out. When I edited a setting by hand and deleted a service, Argo CD restored both within four seconds. The demonstration also found a real problem: after a rollout the autoscaler needed a minute to see the new copies, and Argo CD wrongly called that a failure and retried. I taught it that this state means in progress. On the right are four failures that I caused on purpose, and for each one I identified the symptom, investigated, found the root cause, fixed it and verified the fix. In the last two, the same wrong database address produced two different symptoms, which is the main skill this exercise trains.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a checklist is the minimum. What I wanted to show is the habit behind it: measure, find the weak point, change one thing, measure again, and write down what it cost. The chart allowed no unavailable replicas during a rollout, but when I measured it, every rollout lost one or two requests. An eight second delay before a pod stops fixed that in six out of six repeats. When I killed the database, users got eighteen errors but Prometheus counted none, so my own alerts were blind to a database outage. I made the application answer with a handled error, and now all of them are counted. I also made an alert fire on purpose and resolve, and I restored a deleted table from a backup and compared a checksum. The numbers come from small samples on one laptop, and the documents say so.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change costs something, and I wrote the cost down. Waiting eight seconds before a pod stops makes every rollout slower. Signing and verifying the images adds about a minute to every pipeline run, from three runs. The backup stays inside the cluster, so it protects against mistakes but not against losing the cluster. There is one database pod, so an outage of about six seconds remains, and I only made it visible. On the right is what I planned and chose not to do, so nobody has to guess. Twelve short decision records explain the reasons for the main choices, with what I would do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I rehearsed the demo end to end. I changed one line of text on the page, committed it, and the pipeline built, scanned and published new images. I deployed that exact commit, and then checked from the outside that the running service reported the same commit, that the page showed the new text, and that all the bookings were still there. The first attempt failed in my own smoke test, which called the API a few seconds too early, so I fixed the test and ran it again. What I learned is that a system has to be tested as it really runs, that failures are worth writing down, and that cost control is part of the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CampusSlot</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Book a campus room or lab without ever double booking it</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 / 14</a:t>
            </a:r>
          </a:p>
        </p:txBody>
      </p:sp>
      <p:sp>
        <p:nvSpPr>
          <p:cNvPr id="6" name="TextBox 5"/>
          <p:cNvSpPr txBox="1"/>
          <p:nvPr/>
        </p:nvSpPr>
        <p:spPr>
          <a:xfrm>
            <a:off x="548640" y="1737360"/>
            <a:ext cx="4937760" cy="2926080"/>
          </a:xfrm>
          <a:prstGeom prst="rect">
            <a:avLst/>
          </a:prstGeom>
          <a:noFill/>
        </p:spPr>
        <p:txBody>
          <a:bodyPr wrap="square">
            <a:spAutoFit/>
          </a:bodyPr>
          <a:lstStyle/>
          <a:p>
            <a:pPr>
              <a:spcAft>
                <a:spcPts val="1000"/>
              </a:spcAft>
            </a:pPr>
            <a:r>
              <a:rPr sz="1900" b="1">
                <a:solidFill>
                  <a:srgbClr val="12302D"/>
                </a:solidFill>
                <a:latin typeface="Calibri"/>
              </a:rPr>
              <a:t>The problem</a:t>
            </a:r>
          </a:p>
          <a:p>
            <a:pPr>
              <a:spcAft>
                <a:spcPts val="1000"/>
              </a:spcAft>
            </a:pPr>
            <a:r>
              <a:rPr sz="1900" b="0">
                <a:solidFill>
                  <a:srgbClr val="12302D"/>
                </a:solidFill>
                <a:latin typeface="Calibri"/>
              </a:rPr>
              <a:t>Rooms are often booked by message or spreadsheet, and two people end up with the same room at the same time.</a:t>
            </a:r>
          </a:p>
          <a:p>
            <a:pPr>
              <a:spcAft>
                <a:spcPts val="1000"/>
              </a:spcAft>
            </a:pPr>
            <a:r>
              <a:rPr sz="1900" b="1">
                <a:solidFill>
                  <a:srgbClr val="12302D"/>
                </a:solidFill>
                <a:latin typeface="Calibri"/>
              </a:rPr>
              <a:t>The idea</a:t>
            </a:r>
          </a:p>
          <a:p>
            <a:pPr>
              <a:spcAft>
                <a:spcPts val="1000"/>
              </a:spcAft>
            </a:pPr>
            <a:r>
              <a:rPr sz="1900" b="0">
                <a:solidFill>
                  <a:srgbClr val="12302D"/>
                </a:solidFill>
                <a:latin typeface="Calibri"/>
              </a:rPr>
              <a:t>A booking system that refuses an overlapping slot, and a delivery chain around it that is automatic, secure and observable.</a:t>
            </a:r>
          </a:p>
        </p:txBody>
      </p:sp>
      <p:sp>
        <p:nvSpPr>
          <p:cNvPr id="7" name="TextBox 6"/>
          <p:cNvSpPr txBox="1"/>
          <p:nvPr/>
        </p:nvSpPr>
        <p:spPr>
          <a:xfrm>
            <a:off x="548640" y="5120640"/>
            <a:ext cx="5303520" cy="1097280"/>
          </a:xfrm>
          <a:prstGeom prst="rect">
            <a:avLst/>
          </a:prstGeom>
          <a:noFill/>
        </p:spPr>
        <p:txBody>
          <a:bodyPr wrap="square">
            <a:spAutoFit/>
          </a:bodyPr>
          <a:lstStyle/>
          <a:p>
            <a:pPr>
              <a:spcAft>
                <a:spcPts val="400"/>
              </a:spcAft>
            </a:pPr>
            <a:r>
              <a:rPr sz="1500" b="0">
                <a:solidFill>
                  <a:srgbClr val="5B726F"/>
                </a:solidFill>
                <a:latin typeface="Calibri"/>
              </a:rPr>
              <a:t>Ujjwal Jain   |   24bcs10173   |   Section B</a:t>
            </a:r>
          </a:p>
          <a:p>
            <a:pPr>
              <a:spcAft>
                <a:spcPts val="400"/>
              </a:spcAft>
            </a:pPr>
            <a:r>
              <a:rPr sz="1500" b="0">
                <a:solidFill>
                  <a:srgbClr val="5B726F"/>
                </a:solidFill>
                <a:latin typeface="Calibri"/>
              </a:rPr>
              <a:t>github.com/Ujjwaljain16/campusslot</a:t>
            </a:r>
          </a:p>
        </p:txBody>
      </p:sp>
      <p:pic>
        <p:nvPicPr>
          <p:cNvPr id="8" name="Picture 7" descr="app-desktop.png"/>
          <p:cNvPicPr>
            <a:picLocks noChangeAspect="1"/>
          </p:cNvPicPr>
          <p:nvPr/>
        </p:nvPicPr>
        <p:blipFill>
          <a:blip r:embed="rId3"/>
          <a:stretch>
            <a:fillRect/>
          </a:stretch>
        </p:blipFill>
        <p:spPr>
          <a:xfrm>
            <a:off x="5852160" y="1891665"/>
            <a:ext cx="5943599" cy="3714750"/>
          </a:xfrm>
          <a:prstGeom prst="rect">
            <a:avLst/>
          </a:prstGeom>
          <a:ln w="12700">
            <a:solidFill>
              <a:srgbClr val="B9CFCB"/>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How the pieces fit together</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From a developer's keyboard to a running, watched application</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2 / 14</a:t>
            </a:r>
          </a:p>
        </p:txBody>
      </p:sp>
      <p:sp>
        <p:nvSpPr>
          <p:cNvPr id="6" name="Rounded Rectangle 5"/>
          <p:cNvSpPr/>
          <p:nvPr/>
        </p:nvSpPr>
        <p:spPr>
          <a:xfrm>
            <a:off x="548640" y="1645920"/>
            <a:ext cx="237744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Developer</a:t>
            </a:r>
          </a:p>
          <a:p>
            <a:pPr algn="ctr"/>
            <a:r>
              <a:rPr sz="1200">
                <a:solidFill>
                  <a:srgbClr val="5B726F"/>
                </a:solidFill>
                <a:latin typeface="Calibri"/>
              </a:rPr>
              <a:t>writes and pushes code</a:t>
            </a:r>
          </a:p>
        </p:txBody>
      </p:sp>
      <p:sp>
        <p:nvSpPr>
          <p:cNvPr id="7" name="Rounded Rectangle 6"/>
          <p:cNvSpPr/>
          <p:nvPr/>
        </p:nvSpPr>
        <p:spPr>
          <a:xfrm>
            <a:off x="3383280" y="1645920"/>
            <a:ext cx="237744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GitHub</a:t>
            </a:r>
          </a:p>
          <a:p>
            <a:pPr algn="ctr"/>
            <a:r>
              <a:rPr sz="1200">
                <a:solidFill>
                  <a:srgbClr val="5B726F"/>
                </a:solidFill>
                <a:latin typeface="Calibri"/>
              </a:rPr>
              <a:t>keeps every version</a:t>
            </a:r>
          </a:p>
        </p:txBody>
      </p:sp>
      <p:sp>
        <p:nvSpPr>
          <p:cNvPr id="8" name="Rounded Rectangle 7"/>
          <p:cNvSpPr/>
          <p:nvPr/>
        </p:nvSpPr>
        <p:spPr>
          <a:xfrm>
            <a:off x="6217920" y="1645920"/>
            <a:ext cx="2560320" cy="100584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GitHub Actions</a:t>
            </a:r>
          </a:p>
          <a:p>
            <a:pPr algn="ctr"/>
            <a:r>
              <a:rPr sz="1200">
                <a:solidFill>
                  <a:srgbClr val="5B726F"/>
                </a:solidFill>
                <a:latin typeface="Calibri"/>
              </a:rPr>
              <a:t>tests, scans, builds</a:t>
            </a:r>
          </a:p>
        </p:txBody>
      </p:sp>
      <p:sp>
        <p:nvSpPr>
          <p:cNvPr id="9" name="Rounded Rectangle 8"/>
          <p:cNvSpPr/>
          <p:nvPr/>
        </p:nvSpPr>
        <p:spPr>
          <a:xfrm>
            <a:off x="9235440" y="1645920"/>
            <a:ext cx="246888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Image registry</a:t>
            </a:r>
          </a:p>
          <a:p>
            <a:pPr algn="ctr"/>
            <a:r>
              <a:rPr sz="1200">
                <a:solidFill>
                  <a:srgbClr val="5B726F"/>
                </a:solidFill>
                <a:latin typeface="Calibri"/>
              </a:rPr>
              <a:t>images tagged with the commit</a:t>
            </a:r>
          </a:p>
        </p:txBody>
      </p:sp>
      <p:cxnSp>
        <p:nvCxnSpPr>
          <p:cNvPr id="10" name="Connector 9"/>
          <p:cNvCxnSpPr/>
          <p:nvPr/>
        </p:nvCxnSpPr>
        <p:spPr>
          <a:xfrm>
            <a:off x="2926080" y="21488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60720" y="21488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78240" y="21488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83280" y="3383280"/>
            <a:ext cx="2377440" cy="100584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Argo CD</a:t>
            </a:r>
          </a:p>
          <a:p>
            <a:pPr algn="ctr"/>
            <a:r>
              <a:rPr sz="1200">
                <a:solidFill>
                  <a:srgbClr val="5B726F"/>
                </a:solidFill>
                <a:latin typeface="Calibri"/>
              </a:rPr>
              <a:t>applies what Git says</a:t>
            </a:r>
          </a:p>
        </p:txBody>
      </p:sp>
      <p:cxnSp>
        <p:nvCxnSpPr>
          <p:cNvPr id="14" name="Connector 13"/>
          <p:cNvCxnSpPr/>
          <p:nvPr/>
        </p:nvCxnSpPr>
        <p:spPr>
          <a:xfrm>
            <a:off x="4572000" y="2651760"/>
            <a:ext cx="0" cy="73152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0" y="3108960"/>
            <a:ext cx="5486400" cy="173736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2302D"/>
                </a:solidFill>
                <a:latin typeface="Calibri"/>
              </a:rPr>
              <a:t>Kubernetes cluster</a:t>
            </a:r>
          </a:p>
        </p:txBody>
      </p:sp>
      <p:sp>
        <p:nvSpPr>
          <p:cNvPr id="16" name="Rounded Rectangle 15"/>
          <p:cNvSpPr/>
          <p:nvPr/>
        </p:nvSpPr>
        <p:spPr>
          <a:xfrm>
            <a:off x="6400800" y="3657600"/>
            <a:ext cx="155448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302D"/>
                </a:solidFill>
                <a:latin typeface="Calibri"/>
              </a:rPr>
              <a:t>Website</a:t>
            </a:r>
          </a:p>
          <a:p>
            <a:pPr algn="ctr"/>
            <a:r>
              <a:rPr sz="1100">
                <a:solidFill>
                  <a:srgbClr val="5B726F"/>
                </a:solidFill>
                <a:latin typeface="Calibri"/>
              </a:rPr>
              <a:t>React + nginx</a:t>
            </a:r>
          </a:p>
        </p:txBody>
      </p:sp>
      <p:sp>
        <p:nvSpPr>
          <p:cNvPr id="17" name="Rounded Rectangle 16"/>
          <p:cNvSpPr/>
          <p:nvPr/>
        </p:nvSpPr>
        <p:spPr>
          <a:xfrm>
            <a:off x="8183879" y="3657600"/>
            <a:ext cx="155448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302D"/>
                </a:solidFill>
                <a:latin typeface="Calibri"/>
              </a:rPr>
              <a:t>API</a:t>
            </a:r>
          </a:p>
          <a:p>
            <a:pPr algn="ctr"/>
            <a:r>
              <a:rPr sz="1100">
                <a:solidFill>
                  <a:srgbClr val="5B726F"/>
                </a:solidFill>
                <a:latin typeface="Calibri"/>
              </a:rPr>
              <a:t>FastAPI</a:t>
            </a:r>
          </a:p>
        </p:txBody>
      </p:sp>
      <p:sp>
        <p:nvSpPr>
          <p:cNvPr id="18" name="Rounded Rectangle 17"/>
          <p:cNvSpPr/>
          <p:nvPr/>
        </p:nvSpPr>
        <p:spPr>
          <a:xfrm>
            <a:off x="9966960" y="3657600"/>
            <a:ext cx="155448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302D"/>
                </a:solidFill>
                <a:latin typeface="Calibri"/>
              </a:rPr>
              <a:t>Database</a:t>
            </a:r>
          </a:p>
          <a:p>
            <a:pPr algn="ctr"/>
            <a:r>
              <a:rPr sz="1100">
                <a:solidFill>
                  <a:srgbClr val="5B726F"/>
                </a:solidFill>
                <a:latin typeface="Calibri"/>
              </a:rPr>
              <a:t>PostgreSQL</a:t>
            </a:r>
          </a:p>
        </p:txBody>
      </p:sp>
      <p:cxnSp>
        <p:nvCxnSpPr>
          <p:cNvPr id="19" name="Connector 18"/>
          <p:cNvCxnSpPr/>
          <p:nvPr/>
        </p:nvCxnSpPr>
        <p:spPr>
          <a:xfrm>
            <a:off x="7955279" y="4114800"/>
            <a:ext cx="2286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38360" y="4114800"/>
            <a:ext cx="2286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60720" y="388620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469880" y="2651760"/>
            <a:ext cx="0" cy="45720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5349240"/>
            <a:ext cx="2377440" cy="91440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Terraform</a:t>
            </a:r>
          </a:p>
          <a:p>
            <a:pPr algn="ctr"/>
            <a:r>
              <a:rPr sz="1200">
                <a:solidFill>
                  <a:srgbClr val="5B726F"/>
                </a:solidFill>
                <a:latin typeface="Calibri"/>
              </a:rPr>
              <a:t>builds the cloud from code</a:t>
            </a:r>
          </a:p>
        </p:txBody>
      </p:sp>
      <p:sp>
        <p:nvSpPr>
          <p:cNvPr id="24" name="Rounded Rectangle 23"/>
          <p:cNvSpPr/>
          <p:nvPr/>
        </p:nvSpPr>
        <p:spPr>
          <a:xfrm>
            <a:off x="3383280" y="5349240"/>
            <a:ext cx="2377440" cy="91440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AWS</a:t>
            </a:r>
          </a:p>
          <a:p>
            <a:pPr algn="ctr"/>
            <a:r>
              <a:rPr sz="1200">
                <a:solidFill>
                  <a:srgbClr val="5B726F"/>
                </a:solidFill>
                <a:latin typeface="Calibri"/>
              </a:rPr>
              <a:t>network + EKS cluster</a:t>
            </a:r>
          </a:p>
        </p:txBody>
      </p:sp>
      <p:cxnSp>
        <p:nvCxnSpPr>
          <p:cNvPr id="25" name="Connector 24"/>
          <p:cNvCxnSpPr/>
          <p:nvPr/>
        </p:nvCxnSpPr>
        <p:spPr>
          <a:xfrm>
            <a:off x="2926080" y="5806440"/>
            <a:ext cx="45720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0" y="5349240"/>
            <a:ext cx="5486400" cy="91440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Prometheus, Loki and Grafana</a:t>
            </a:r>
          </a:p>
          <a:p>
            <a:pPr algn="ctr"/>
            <a:r>
              <a:rPr sz="1200">
                <a:solidFill>
                  <a:srgbClr val="5B726F"/>
                </a:solidFill>
                <a:latin typeface="Calibri"/>
              </a:rPr>
              <a:t>metrics and logs on one dashboard</a:t>
            </a:r>
          </a:p>
        </p:txBody>
      </p:sp>
      <p:cxnSp>
        <p:nvCxnSpPr>
          <p:cNvPr id="27" name="Connector 26"/>
          <p:cNvCxnSpPr/>
          <p:nvPr/>
        </p:nvCxnSpPr>
        <p:spPr>
          <a:xfrm>
            <a:off x="8961120" y="4846320"/>
            <a:ext cx="0" cy="50292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What the application does</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Pick a room and a time. If the slot is taken, the system says no and says why.</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3 / 14</a:t>
            </a:r>
          </a:p>
        </p:txBody>
      </p:sp>
      <p:pic>
        <p:nvPicPr>
          <p:cNvPr id="6" name="Picture 5" descr="app-desktop.png"/>
          <p:cNvPicPr>
            <a:picLocks noChangeAspect="1"/>
          </p:cNvPicPr>
          <p:nvPr/>
        </p:nvPicPr>
        <p:blipFill>
          <a:blip r:embed="rId3"/>
          <a:stretch>
            <a:fillRect/>
          </a:stretch>
        </p:blipFill>
        <p:spPr>
          <a:xfrm>
            <a:off x="548640" y="1554480"/>
            <a:ext cx="6583680" cy="4114800"/>
          </a:xfrm>
          <a:prstGeom prst="rect">
            <a:avLst/>
          </a:prstGeom>
          <a:ln w="12700">
            <a:solidFill>
              <a:srgbClr val="B9CFCB"/>
            </a:solidFill>
          </a:ln>
        </p:spPr>
      </p:pic>
      <p:sp>
        <p:nvSpPr>
          <p:cNvPr id="7" name="TextBox 6"/>
          <p:cNvSpPr txBox="1"/>
          <p:nvPr/>
        </p:nvSpPr>
        <p:spPr>
          <a:xfrm>
            <a:off x="548640" y="5687568"/>
            <a:ext cx="6583680" cy="320040"/>
          </a:xfrm>
          <a:prstGeom prst="rect">
            <a:avLst/>
          </a:prstGeom>
          <a:noFill/>
        </p:spPr>
        <p:txBody>
          <a:bodyPr wrap="square">
            <a:spAutoFit/>
          </a:bodyPr>
          <a:lstStyle/>
          <a:p>
            <a:pPr>
              <a:spcAft>
                <a:spcPts val="600"/>
              </a:spcAft>
            </a:pPr>
            <a:r>
              <a:rPr sz="1100" b="0">
                <a:solidFill>
                  <a:srgbClr val="5B726F"/>
                </a:solidFill>
                <a:latin typeface="Calibri"/>
              </a:rPr>
              <a:t>The day view for six rooms, with live numbers on top</a:t>
            </a:r>
          </a:p>
        </p:txBody>
      </p:sp>
      <p:pic>
        <p:nvPicPr>
          <p:cNvPr id="8" name="Picture 7" descr="app-mobile.png"/>
          <p:cNvPicPr>
            <a:picLocks noChangeAspect="1"/>
          </p:cNvPicPr>
          <p:nvPr/>
        </p:nvPicPr>
        <p:blipFill>
          <a:blip r:embed="rId4"/>
          <a:stretch>
            <a:fillRect/>
          </a:stretch>
        </p:blipFill>
        <p:spPr>
          <a:xfrm>
            <a:off x="7739174" y="1463040"/>
            <a:ext cx="1255170" cy="4663440"/>
          </a:xfrm>
          <a:prstGeom prst="rect">
            <a:avLst/>
          </a:prstGeom>
          <a:ln w="12700">
            <a:solidFill>
              <a:srgbClr val="B9CFCB"/>
            </a:solidFill>
          </a:ln>
        </p:spPr>
      </p:pic>
      <p:sp>
        <p:nvSpPr>
          <p:cNvPr id="9" name="TextBox 8"/>
          <p:cNvSpPr txBox="1"/>
          <p:nvPr/>
        </p:nvSpPr>
        <p:spPr>
          <a:xfrm>
            <a:off x="7498079" y="6144767"/>
            <a:ext cx="1737360" cy="320040"/>
          </a:xfrm>
          <a:prstGeom prst="rect">
            <a:avLst/>
          </a:prstGeom>
          <a:noFill/>
        </p:spPr>
        <p:txBody>
          <a:bodyPr wrap="square">
            <a:spAutoFit/>
          </a:bodyPr>
          <a:lstStyle/>
          <a:p>
            <a:pPr>
              <a:spcAft>
                <a:spcPts val="600"/>
              </a:spcAft>
            </a:pPr>
            <a:r>
              <a:rPr sz="1100" b="0">
                <a:solidFill>
                  <a:srgbClr val="5B726F"/>
                </a:solidFill>
                <a:latin typeface="Calibri"/>
              </a:rPr>
              <a:t>On a phone</a:t>
            </a:r>
          </a:p>
        </p:txBody>
      </p:sp>
      <p:sp>
        <p:nvSpPr>
          <p:cNvPr id="10" name="TextBox 9"/>
          <p:cNvSpPr txBox="1"/>
          <p:nvPr/>
        </p:nvSpPr>
        <p:spPr>
          <a:xfrm>
            <a:off x="9418320" y="1554480"/>
            <a:ext cx="2468880" cy="4389120"/>
          </a:xfrm>
          <a:prstGeom prst="rect">
            <a:avLst/>
          </a:prstGeom>
          <a:noFill/>
        </p:spPr>
        <p:txBody>
          <a:bodyPr wrap="square">
            <a:spAutoFit/>
          </a:bodyPr>
          <a:lstStyle/>
          <a:p>
            <a:pPr>
              <a:spcAft>
                <a:spcPts val="1000"/>
              </a:spcAft>
            </a:pPr>
            <a:r>
              <a:rPr sz="1500" b="1">
                <a:solidFill>
                  <a:srgbClr val="12302D"/>
                </a:solidFill>
                <a:latin typeface="Calibri"/>
              </a:rPr>
              <a:t>Three layers protect the rule</a:t>
            </a:r>
          </a:p>
          <a:p>
            <a:pPr>
              <a:spcAft>
                <a:spcPts val="1000"/>
              </a:spcAft>
            </a:pPr>
            <a:r>
              <a:rPr sz="1500" b="0">
                <a:solidFill>
                  <a:srgbClr val="12302D"/>
                </a:solidFill>
                <a:latin typeface="Calibri"/>
              </a:rPr>
              <a:t>1. Check the request makes sense</a:t>
            </a:r>
          </a:p>
          <a:p>
            <a:pPr>
              <a:spcAft>
                <a:spcPts val="1000"/>
              </a:spcAft>
            </a:pPr>
            <a:r>
              <a:rPr sz="1500" b="0">
                <a:solidFill>
                  <a:srgbClr val="12302D"/>
                </a:solidFill>
                <a:latin typeface="Calibri"/>
              </a:rPr>
              <a:t>2. Look for an overlapping booking</a:t>
            </a:r>
          </a:p>
          <a:p>
            <a:pPr>
              <a:spcAft>
                <a:spcPts val="1000"/>
              </a:spcAft>
            </a:pPr>
            <a:r>
              <a:rPr sz="1500" b="0">
                <a:solidFill>
                  <a:srgbClr val="12302D"/>
                </a:solidFill>
                <a:latin typeface="Calibri"/>
              </a:rPr>
              <a:t>3. The database refuses overlaps itself</a:t>
            </a:r>
          </a:p>
          <a:p>
            <a:pPr>
              <a:spcAft>
                <a:spcPts val="1000"/>
              </a:spcAft>
            </a:pPr>
            <a:r>
              <a:rPr sz="1500" b="0">
                <a:solidFill>
                  <a:srgbClr val="12302D"/>
                </a:solidFill>
                <a:latin typeface="Calibri"/>
              </a:rPr>
              <a:t>A slot that ends when another begins is fine.</a:t>
            </a:r>
          </a:p>
        </p:txBody>
      </p:sp>
      <p:sp>
        <p:nvSpPr>
          <p:cNvPr id="11" name="TextBox 10"/>
          <p:cNvSpPr txBox="1"/>
          <p:nvPr/>
        </p:nvSpPr>
        <p:spPr>
          <a:xfrm>
            <a:off x="548640" y="5897880"/>
            <a:ext cx="6583680" cy="457200"/>
          </a:xfrm>
          <a:prstGeom prst="rect">
            <a:avLst/>
          </a:prstGeom>
          <a:noFill/>
        </p:spPr>
        <p:txBody>
          <a:bodyPr wrap="square">
            <a:spAutoFit/>
          </a:bodyPr>
          <a:lstStyle/>
          <a:p>
            <a:pPr>
              <a:spcAft>
                <a:spcPts val="600"/>
              </a:spcAft>
            </a:pPr>
            <a:r>
              <a:rPr sz="1400" b="0">
                <a:solidFill>
                  <a:srgbClr val="5B726F"/>
                </a:solidFill>
                <a:latin typeface="Calibri"/>
              </a:rPr>
              <a:t>Real data: bookings are stored in PostgreSQL and survive restarts.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How the project is organised</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74 meaningful commits, each one a small step that can be explained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4 / 14</a:t>
            </a:r>
          </a:p>
        </p:txBody>
      </p:sp>
      <p:sp>
        <p:nvSpPr>
          <p:cNvPr id="6" name="TextBox 5"/>
          <p:cNvSpPr txBox="1"/>
          <p:nvPr/>
        </p:nvSpPr>
        <p:spPr>
          <a:xfrm>
            <a:off x="548640" y="1645920"/>
            <a:ext cx="5120640" cy="4572000"/>
          </a:xfrm>
          <a:prstGeom prst="rect">
            <a:avLst/>
          </a:prstGeom>
          <a:noFill/>
        </p:spPr>
        <p:txBody>
          <a:bodyPr wrap="square">
            <a:spAutoFit/>
          </a:bodyPr>
          <a:lstStyle/>
          <a:p>
            <a:pPr>
              <a:spcAft>
                <a:spcPts val="500"/>
              </a:spcAft>
            </a:pPr>
            <a:r>
              <a:rPr sz="1500" b="0">
                <a:solidFill>
                  <a:srgbClr val="12302D"/>
                </a:solidFill>
                <a:latin typeface="Consolas"/>
              </a:rPr>
              <a:t>backend/       API, migrations, tests</a:t>
            </a:r>
          </a:p>
          <a:p>
            <a:pPr>
              <a:spcAft>
                <a:spcPts val="500"/>
              </a:spcAft>
            </a:pPr>
            <a:r>
              <a:rPr sz="1500" b="0">
                <a:solidFill>
                  <a:srgbClr val="12302D"/>
                </a:solidFill>
                <a:latin typeface="Consolas"/>
              </a:rPr>
              <a:t>frontend/      website and nginx</a:t>
            </a:r>
          </a:p>
          <a:p>
            <a:pPr>
              <a:spcAft>
                <a:spcPts val="500"/>
              </a:spcAft>
            </a:pPr>
            <a:r>
              <a:rPr sz="1500" b="0">
                <a:solidFill>
                  <a:srgbClr val="12302D"/>
                </a:solidFill>
                <a:latin typeface="Consolas"/>
              </a:rPr>
              <a:t>helm/          the Kubernetes package</a:t>
            </a:r>
          </a:p>
          <a:p>
            <a:pPr>
              <a:spcAft>
                <a:spcPts val="500"/>
              </a:spcAft>
            </a:pPr>
            <a:r>
              <a:rPr sz="1500" b="0">
                <a:solidFill>
                  <a:srgbClr val="12302D"/>
                </a:solidFill>
                <a:latin typeface="Consolas"/>
              </a:rPr>
              <a:t>terraform/     AWS network and cluster</a:t>
            </a:r>
          </a:p>
          <a:p>
            <a:pPr>
              <a:spcAft>
                <a:spcPts val="500"/>
              </a:spcAft>
            </a:pPr>
            <a:r>
              <a:rPr sz="1500" b="0">
                <a:solidFill>
                  <a:srgbClr val="12302D"/>
                </a:solidFill>
                <a:latin typeface="Consolas"/>
              </a:rPr>
              <a:t>gitops/        what Argo CD applies</a:t>
            </a:r>
          </a:p>
          <a:p>
            <a:pPr>
              <a:spcAft>
                <a:spcPts val="500"/>
              </a:spcAft>
            </a:pPr>
            <a:r>
              <a:rPr sz="1500" b="0">
                <a:solidFill>
                  <a:srgbClr val="12302D"/>
                </a:solidFill>
                <a:latin typeface="Consolas"/>
              </a:rPr>
              <a:t>security/      the security gates</a:t>
            </a:r>
          </a:p>
          <a:p>
            <a:pPr>
              <a:spcAft>
                <a:spcPts val="500"/>
              </a:spcAft>
            </a:pPr>
            <a:r>
              <a:rPr sz="1500" b="0">
                <a:solidFill>
                  <a:srgbClr val="12302D"/>
                </a:solidFill>
                <a:latin typeface="Consolas"/>
              </a:rPr>
              <a:t>monitoring/    dashboards and logs</a:t>
            </a:r>
          </a:p>
          <a:p>
            <a:pPr>
              <a:spcAft>
                <a:spcPts val="500"/>
              </a:spcAft>
            </a:pPr>
            <a:r>
              <a:rPr sz="1500" b="0">
                <a:solidFill>
                  <a:srgbClr val="12302D"/>
                </a:solidFill>
                <a:latin typeface="Consolas"/>
              </a:rPr>
              <a:t>troubleshooting/   four failures on purpose</a:t>
            </a:r>
          </a:p>
          <a:p>
            <a:pPr>
              <a:spcAft>
                <a:spcPts val="500"/>
              </a:spcAft>
            </a:pPr>
            <a:r>
              <a:rPr sz="1500" b="0">
                <a:solidFill>
                  <a:srgbClr val="12302D"/>
                </a:solidFill>
                <a:latin typeface="Consolas"/>
              </a:rPr>
              <a:t>docs/evidence/ real screenshots and logs</a:t>
            </a:r>
          </a:p>
          <a:p>
            <a:pPr>
              <a:spcAft>
                <a:spcPts val="500"/>
              </a:spcAft>
            </a:pPr>
            <a:r>
              <a:rPr sz="1500" b="0">
                <a:solidFill>
                  <a:srgbClr val="12302D"/>
                </a:solidFill>
                <a:latin typeface="Consolas"/>
              </a:rPr>
              <a:t>.github/workflows/  the pipeline</a:t>
            </a:r>
          </a:p>
        </p:txBody>
      </p:sp>
      <p:pic>
        <p:nvPicPr>
          <p:cNvPr id="7" name="Picture 6" descr="github-commit-history.png"/>
          <p:cNvPicPr>
            <a:picLocks noChangeAspect="1"/>
          </p:cNvPicPr>
          <p:nvPr/>
        </p:nvPicPr>
        <p:blipFill>
          <a:blip r:embed="rId3"/>
          <a:stretch>
            <a:fillRect/>
          </a:stretch>
        </p:blipFill>
        <p:spPr>
          <a:xfrm>
            <a:off x="6577148" y="1417320"/>
            <a:ext cx="4585062" cy="4937760"/>
          </a:xfrm>
          <a:prstGeom prst="rect">
            <a:avLst/>
          </a:prstGeom>
          <a:ln w="12700">
            <a:solidFill>
              <a:srgbClr val="B9CFCB"/>
            </a:solidFill>
          </a:ln>
        </p:spPr>
      </p:pic>
      <p:sp>
        <p:nvSpPr>
          <p:cNvPr id="8" name="TextBox 7"/>
          <p:cNvSpPr txBox="1"/>
          <p:nvPr/>
        </p:nvSpPr>
        <p:spPr>
          <a:xfrm>
            <a:off x="6035040" y="6373368"/>
            <a:ext cx="5669280" cy="320040"/>
          </a:xfrm>
          <a:prstGeom prst="rect">
            <a:avLst/>
          </a:prstGeom>
          <a:noFill/>
        </p:spPr>
        <p:txBody>
          <a:bodyPr wrap="square">
            <a:spAutoFit/>
          </a:bodyPr>
          <a:lstStyle/>
          <a:p>
            <a:pPr>
              <a:spcAft>
                <a:spcPts val="600"/>
              </a:spcAft>
            </a:pPr>
            <a:r>
              <a:rPr sz="1100" b="0">
                <a:solidFill>
                  <a:srgbClr val="5B726F"/>
                </a:solidFill>
                <a:latin typeface="Calibri"/>
              </a:rPr>
              <a:t>Public commit history on GitHub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One command starts everything</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docker compose up: website, API and database, with the data kept safe</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5 / 14</a:t>
            </a:r>
          </a:p>
        </p:txBody>
      </p:sp>
      <p:pic>
        <p:nvPicPr>
          <p:cNvPr id="6" name="Picture 5" descr="terminal-docker-compose-ps.png"/>
          <p:cNvPicPr>
            <a:picLocks noChangeAspect="1"/>
          </p:cNvPicPr>
          <p:nvPr/>
        </p:nvPicPr>
        <p:blipFill>
          <a:blip r:embed="rId3"/>
          <a:stretch>
            <a:fillRect/>
          </a:stretch>
        </p:blipFill>
        <p:spPr>
          <a:xfrm>
            <a:off x="1234930" y="1554480"/>
            <a:ext cx="5211099" cy="2651760"/>
          </a:xfrm>
          <a:prstGeom prst="rect">
            <a:avLst/>
          </a:prstGeom>
          <a:ln w="12700">
            <a:solidFill>
              <a:srgbClr val="B9CFCB"/>
            </a:solidFill>
          </a:ln>
        </p:spPr>
      </p:pic>
      <p:sp>
        <p:nvSpPr>
          <p:cNvPr id="7" name="TextBox 6"/>
          <p:cNvSpPr txBox="1"/>
          <p:nvPr/>
        </p:nvSpPr>
        <p:spPr>
          <a:xfrm>
            <a:off x="548640" y="4224527"/>
            <a:ext cx="6583680" cy="320040"/>
          </a:xfrm>
          <a:prstGeom prst="rect">
            <a:avLst/>
          </a:prstGeom>
          <a:noFill/>
        </p:spPr>
        <p:txBody>
          <a:bodyPr wrap="square">
            <a:spAutoFit/>
          </a:bodyPr>
          <a:lstStyle/>
          <a:p>
            <a:pPr>
              <a:spcAft>
                <a:spcPts val="600"/>
              </a:spcAft>
            </a:pPr>
            <a:r>
              <a:rPr sz="1100" b="0">
                <a:solidFill>
                  <a:srgbClr val="5B726F"/>
                </a:solidFill>
                <a:latin typeface="Calibri"/>
              </a:rPr>
              <a:t>Three services, all healthy</a:t>
            </a:r>
          </a:p>
        </p:txBody>
      </p:sp>
      <p:pic>
        <p:nvPicPr>
          <p:cNvPr id="8" name="Picture 7" descr="terminal-docker-nonroot-id.png"/>
          <p:cNvPicPr>
            <a:picLocks noChangeAspect="1"/>
          </p:cNvPicPr>
          <p:nvPr/>
        </p:nvPicPr>
        <p:blipFill>
          <a:blip r:embed="rId4"/>
          <a:stretch>
            <a:fillRect/>
          </a:stretch>
        </p:blipFill>
        <p:spPr>
          <a:xfrm>
            <a:off x="1063026" y="4663440"/>
            <a:ext cx="5554907" cy="1188720"/>
          </a:xfrm>
          <a:prstGeom prst="rect">
            <a:avLst/>
          </a:prstGeom>
          <a:ln w="12700">
            <a:solidFill>
              <a:srgbClr val="B9CFCB"/>
            </a:solidFill>
          </a:ln>
        </p:spPr>
      </p:pic>
      <p:sp>
        <p:nvSpPr>
          <p:cNvPr id="9" name="TextBox 8"/>
          <p:cNvSpPr txBox="1"/>
          <p:nvPr/>
        </p:nvSpPr>
        <p:spPr>
          <a:xfrm>
            <a:off x="548640" y="5870447"/>
            <a:ext cx="6583680" cy="320040"/>
          </a:xfrm>
          <a:prstGeom prst="rect">
            <a:avLst/>
          </a:prstGeom>
          <a:noFill/>
        </p:spPr>
        <p:txBody>
          <a:bodyPr wrap="square">
            <a:spAutoFit/>
          </a:bodyPr>
          <a:lstStyle/>
          <a:p>
            <a:pPr>
              <a:spcAft>
                <a:spcPts val="600"/>
              </a:spcAft>
            </a:pPr>
            <a:r>
              <a:rPr sz="1100" b="0">
                <a:solidFill>
                  <a:srgbClr val="5B726F"/>
                </a:solidFill>
                <a:latin typeface="Calibri"/>
              </a:rPr>
              <a:t>Both containers run as a normal user, not as root</a:t>
            </a:r>
          </a:p>
        </p:txBody>
      </p:sp>
      <p:pic>
        <p:nvPicPr>
          <p:cNvPr id="10" name="Picture 9" descr="terminal-docker-persistence.png"/>
          <p:cNvPicPr>
            <a:picLocks noChangeAspect="1"/>
          </p:cNvPicPr>
          <p:nvPr/>
        </p:nvPicPr>
        <p:blipFill>
          <a:blip r:embed="rId5"/>
          <a:stretch>
            <a:fillRect/>
          </a:stretch>
        </p:blipFill>
        <p:spPr>
          <a:xfrm>
            <a:off x="7406640" y="2120067"/>
            <a:ext cx="4389120" cy="1612025"/>
          </a:xfrm>
          <a:prstGeom prst="rect">
            <a:avLst/>
          </a:prstGeom>
          <a:ln w="12700">
            <a:solidFill>
              <a:srgbClr val="B9CFCB"/>
            </a:solidFill>
          </a:ln>
        </p:spPr>
      </p:pic>
      <p:sp>
        <p:nvSpPr>
          <p:cNvPr id="11" name="TextBox 10"/>
          <p:cNvSpPr txBox="1"/>
          <p:nvPr/>
        </p:nvSpPr>
        <p:spPr>
          <a:xfrm>
            <a:off x="7406640" y="4315968"/>
            <a:ext cx="4389120" cy="320040"/>
          </a:xfrm>
          <a:prstGeom prst="rect">
            <a:avLst/>
          </a:prstGeom>
          <a:noFill/>
        </p:spPr>
        <p:txBody>
          <a:bodyPr wrap="square">
            <a:spAutoFit/>
          </a:bodyPr>
          <a:lstStyle/>
          <a:p>
            <a:pPr>
              <a:spcAft>
                <a:spcPts val="600"/>
              </a:spcAft>
            </a:pPr>
            <a:r>
              <a:rPr sz="1100" b="0">
                <a:solidFill>
                  <a:srgbClr val="5B726F"/>
                </a:solidFill>
                <a:latin typeface="Calibri"/>
              </a:rPr>
              <a:t>Bookings survive down and up</a:t>
            </a:r>
          </a:p>
        </p:txBody>
      </p:sp>
      <p:sp>
        <p:nvSpPr>
          <p:cNvPr id="12" name="TextBox 11"/>
          <p:cNvSpPr txBox="1"/>
          <p:nvPr/>
        </p:nvSpPr>
        <p:spPr>
          <a:xfrm>
            <a:off x="7406640" y="4572000"/>
            <a:ext cx="4389120" cy="1737360"/>
          </a:xfrm>
          <a:prstGeom prst="rect">
            <a:avLst/>
          </a:prstGeom>
          <a:noFill/>
        </p:spPr>
        <p:txBody>
          <a:bodyPr wrap="square">
            <a:spAutoFit/>
          </a:bodyPr>
          <a:lstStyle/>
          <a:p>
            <a:pPr>
              <a:spcAft>
                <a:spcPts val="800"/>
              </a:spcAft>
            </a:pPr>
            <a:r>
              <a:rPr sz="1600" b="0">
                <a:solidFill>
                  <a:srgbClr val="12302D"/>
                </a:solidFill>
                <a:latin typeface="Calibri"/>
              </a:rPr>
              <a:t>•  Two small images, built in stages</a:t>
            </a:r>
          </a:p>
          <a:p>
            <a:pPr>
              <a:spcAft>
                <a:spcPts val="800"/>
              </a:spcAft>
            </a:pPr>
            <a:r>
              <a:rPr sz="1600" b="0">
                <a:solidFill>
                  <a:srgbClr val="12302D"/>
                </a:solidFill>
                <a:latin typeface="Calibri"/>
              </a:rPr>
              <a:t>•  Health checks on every service</a:t>
            </a:r>
          </a:p>
          <a:p>
            <a:pPr>
              <a:spcAft>
                <a:spcPts val="800"/>
              </a:spcAft>
            </a:pPr>
            <a:r>
              <a:rPr sz="1600" b="0">
                <a:solidFill>
                  <a:srgbClr val="12302D"/>
                </a:solidFill>
                <a:latin typeface="Calibri"/>
              </a:rPr>
              <a:t>•  The database keeps its data on a volume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Every push is checked automatically</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Nothing reaches the cluster unless every earlier check has passed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6 / 14</a:t>
            </a:r>
          </a:p>
        </p:txBody>
      </p:sp>
      <p:pic>
        <p:nvPicPr>
          <p:cNvPr id="6" name="Picture 5" descr="github-actions-run.png"/>
          <p:cNvPicPr>
            <a:picLocks noChangeAspect="1"/>
          </p:cNvPicPr>
          <p:nvPr/>
        </p:nvPicPr>
        <p:blipFill>
          <a:blip r:embed="rId3"/>
          <a:stretch>
            <a:fillRect/>
          </a:stretch>
        </p:blipFill>
        <p:spPr>
          <a:xfrm>
            <a:off x="574243" y="1554480"/>
            <a:ext cx="6715353" cy="4663440"/>
          </a:xfrm>
          <a:prstGeom prst="rect">
            <a:avLst/>
          </a:prstGeom>
          <a:ln w="12700">
            <a:solidFill>
              <a:srgbClr val="B9CFCB"/>
            </a:solidFill>
          </a:ln>
        </p:spPr>
      </p:pic>
      <p:graphicFrame>
        <p:nvGraphicFramePr>
          <p:cNvPr id="7" name="Table 6"/>
          <p:cNvGraphicFramePr>
            <a:graphicFrameLocks noGrp="1"/>
          </p:cNvGraphicFramePr>
          <p:nvPr/>
        </p:nvGraphicFramePr>
        <p:xfrm>
          <a:off x="7589520" y="1645920"/>
          <a:ext cx="4114800" cy="2560320"/>
        </p:xfrm>
        <a:graphic>
          <a:graphicData uri="http://schemas.openxmlformats.org/drawingml/2006/table">
            <a:tbl>
              <a:tblPr firstRow="1" bandRow="1">
                <a:tableStyleId>{5C22544A-7EE6-4342-B048-85BDC9FD1C3A}</a:tableStyleId>
              </a:tblPr>
              <a:tblGrid>
                <a:gridCol w="2743200"/>
                <a:gridCol w="1371600"/>
              </a:tblGrid>
              <a:tr h="365760">
                <a:tc>
                  <a:txBody>
                    <a:bodyPr/>
                    <a:lstStyle/>
                    <a:p>
                      <a:r>
                        <a:rPr sz="1500" b="1">
                          <a:solidFill>
                            <a:srgbClr val="FFFFFF"/>
                          </a:solidFill>
                          <a:latin typeface="Calibri"/>
                        </a:rPr>
                        <a:t>Stage</a:t>
                      </a:r>
                    </a:p>
                  </a:txBody>
                  <a:tcPr marL="73152" marR="73152">
                    <a:solidFill>
                      <a:srgbClr val="0F766E"/>
                    </a:solidFill>
                  </a:tcPr>
                </a:tc>
                <a:tc>
                  <a:txBody>
                    <a:bodyPr/>
                    <a:lstStyle/>
                    <a:p>
                      <a:r>
                        <a:rPr sz="1500" b="1">
                          <a:solidFill>
                            <a:srgbClr val="FFFFFF"/>
                          </a:solidFill>
                          <a:latin typeface="Calibri"/>
                        </a:rPr>
                        <a:t>Time</a:t>
                      </a:r>
                    </a:p>
                  </a:txBody>
                  <a:tcPr marL="73152" marR="73152">
                    <a:solidFill>
                      <a:srgbClr val="0F766E"/>
                    </a:solidFill>
                  </a:tcPr>
                </a:tc>
              </a:tr>
              <a:tr h="365760">
                <a:tc>
                  <a:txBody>
                    <a:bodyPr/>
                    <a:lstStyle/>
                    <a:p>
                      <a:r>
                        <a:rPr sz="1500">
                          <a:solidFill>
                            <a:srgbClr val="12302D"/>
                          </a:solidFill>
                          <a:latin typeface="Calibri"/>
                        </a:rPr>
                        <a:t>Backend tests</a:t>
                      </a:r>
                    </a:p>
                  </a:txBody>
                  <a:tcPr marL="73152" marR="73152">
                    <a:solidFill>
                      <a:srgbClr val="FFFFFF"/>
                    </a:solidFill>
                  </a:tcPr>
                </a:tc>
                <a:tc>
                  <a:txBody>
                    <a:bodyPr/>
                    <a:lstStyle/>
                    <a:p>
                      <a:r>
                        <a:rPr sz="1500">
                          <a:solidFill>
                            <a:srgbClr val="12302D"/>
                          </a:solidFill>
                          <a:latin typeface="Calibri"/>
                        </a:rPr>
                        <a:t>19 s</a:t>
                      </a:r>
                    </a:p>
                  </a:txBody>
                  <a:tcPr marL="73152" marR="73152">
                    <a:solidFill>
                      <a:srgbClr val="FFFFFF"/>
                    </a:solidFill>
                  </a:tcPr>
                </a:tc>
              </a:tr>
              <a:tr h="365760">
                <a:tc>
                  <a:txBody>
                    <a:bodyPr/>
                    <a:lstStyle/>
                    <a:p>
                      <a:r>
                        <a:rPr sz="1500">
                          <a:solidFill>
                            <a:srgbClr val="12302D"/>
                          </a:solidFill>
                          <a:latin typeface="Calibri"/>
                        </a:rPr>
                        <a:t>Frontend build</a:t>
                      </a:r>
                    </a:p>
                  </a:txBody>
                  <a:tcPr marL="73152" marR="73152">
                    <a:solidFill>
                      <a:srgbClr val="D7ECE9"/>
                    </a:solidFill>
                  </a:tcPr>
                </a:tc>
                <a:tc>
                  <a:txBody>
                    <a:bodyPr/>
                    <a:lstStyle/>
                    <a:p>
                      <a:r>
                        <a:rPr sz="1500">
                          <a:solidFill>
                            <a:srgbClr val="12302D"/>
                          </a:solidFill>
                          <a:latin typeface="Calibri"/>
                        </a:rPr>
                        <a:t>9 s</a:t>
                      </a:r>
                    </a:p>
                  </a:txBody>
                  <a:tcPr marL="73152" marR="73152">
                    <a:solidFill>
                      <a:srgbClr val="D7ECE9"/>
                    </a:solidFill>
                  </a:tcPr>
                </a:tc>
              </a:tr>
              <a:tr h="365760">
                <a:tc>
                  <a:txBody>
                    <a:bodyPr/>
                    <a:lstStyle/>
                    <a:p>
                      <a:r>
                        <a:rPr sz="1500">
                          <a:solidFill>
                            <a:srgbClr val="12302D"/>
                          </a:solidFill>
                          <a:latin typeface="Calibri"/>
                        </a:rPr>
                        <a:t>Database tests</a:t>
                      </a:r>
                    </a:p>
                  </a:txBody>
                  <a:tcPr marL="73152" marR="73152">
                    <a:solidFill>
                      <a:srgbClr val="FFFFFF"/>
                    </a:solidFill>
                  </a:tcPr>
                </a:tc>
                <a:tc>
                  <a:txBody>
                    <a:bodyPr/>
                    <a:lstStyle/>
                    <a:p>
                      <a:r>
                        <a:rPr sz="1500">
                          <a:solidFill>
                            <a:srgbClr val="12302D"/>
                          </a:solidFill>
                          <a:latin typeface="Calibri"/>
                        </a:rPr>
                        <a:t>34 s</a:t>
                      </a:r>
                    </a:p>
                  </a:txBody>
                  <a:tcPr marL="73152" marR="73152">
                    <a:solidFill>
                      <a:srgbClr val="FFFFFF"/>
                    </a:solidFill>
                  </a:tcPr>
                </a:tc>
              </a:tr>
              <a:tr h="365760">
                <a:tc>
                  <a:txBody>
                    <a:bodyPr/>
                    <a:lstStyle/>
                    <a:p>
                      <a:r>
                        <a:rPr sz="1500">
                          <a:solidFill>
                            <a:srgbClr val="12302D"/>
                          </a:solidFill>
                          <a:latin typeface="Calibri"/>
                        </a:rPr>
                        <a:t>Secret scan</a:t>
                      </a:r>
                    </a:p>
                  </a:txBody>
                  <a:tcPr marL="73152" marR="73152">
                    <a:solidFill>
                      <a:srgbClr val="D7ECE9"/>
                    </a:solidFill>
                  </a:tcPr>
                </a:tc>
                <a:tc>
                  <a:txBody>
                    <a:bodyPr/>
                    <a:lstStyle/>
                    <a:p>
                      <a:r>
                        <a:rPr sz="1500">
                          <a:solidFill>
                            <a:srgbClr val="12302D"/>
                          </a:solidFill>
                          <a:latin typeface="Calibri"/>
                        </a:rPr>
                        <a:t>7 s</a:t>
                      </a:r>
                    </a:p>
                  </a:txBody>
                  <a:tcPr marL="73152" marR="73152">
                    <a:solidFill>
                      <a:srgbClr val="D7ECE9"/>
                    </a:solidFill>
                  </a:tcPr>
                </a:tc>
              </a:tr>
              <a:tr h="365760">
                <a:tc>
                  <a:txBody>
                    <a:bodyPr/>
                    <a:lstStyle/>
                    <a:p>
                      <a:r>
                        <a:rPr sz="1500">
                          <a:solidFill>
                            <a:srgbClr val="12302D"/>
                          </a:solidFill>
                          <a:latin typeface="Calibri"/>
                        </a:rPr>
                        <a:t>Build, scan, push</a:t>
                      </a:r>
                    </a:p>
                  </a:txBody>
                  <a:tcPr marL="73152" marR="73152">
                    <a:solidFill>
                      <a:srgbClr val="FFFFFF"/>
                    </a:solidFill>
                  </a:tcPr>
                </a:tc>
                <a:tc>
                  <a:txBody>
                    <a:bodyPr/>
                    <a:lstStyle/>
                    <a:p>
                      <a:r>
                        <a:rPr sz="1500">
                          <a:solidFill>
                            <a:srgbClr val="12302D"/>
                          </a:solidFill>
                          <a:latin typeface="Calibri"/>
                        </a:rPr>
                        <a:t>98 s</a:t>
                      </a:r>
                    </a:p>
                  </a:txBody>
                  <a:tcPr marL="73152" marR="73152">
                    <a:solidFill>
                      <a:srgbClr val="FFFFFF"/>
                    </a:solidFill>
                  </a:tcPr>
                </a:tc>
              </a:tr>
              <a:tr h="365760">
                <a:tc>
                  <a:txBody>
                    <a:bodyPr/>
                    <a:lstStyle/>
                    <a:p>
                      <a:r>
                        <a:rPr sz="1500">
                          <a:solidFill>
                            <a:srgbClr val="12302D"/>
                          </a:solidFill>
                          <a:latin typeface="Calibri"/>
                        </a:rPr>
                        <a:t>Deploy and smoke test</a:t>
                      </a:r>
                    </a:p>
                  </a:txBody>
                  <a:tcPr marL="73152" marR="73152">
                    <a:solidFill>
                      <a:srgbClr val="D7ECE9"/>
                    </a:solidFill>
                  </a:tcPr>
                </a:tc>
                <a:tc>
                  <a:txBody>
                    <a:bodyPr/>
                    <a:lstStyle/>
                    <a:p>
                      <a:r>
                        <a:rPr sz="1500">
                          <a:solidFill>
                            <a:srgbClr val="12302D"/>
                          </a:solidFill>
                          <a:latin typeface="Calibri"/>
                        </a:rPr>
                        <a:t>98 s</a:t>
                      </a:r>
                    </a:p>
                  </a:txBody>
                  <a:tcPr marL="73152" marR="73152">
                    <a:solidFill>
                      <a:srgbClr val="D7ECE9"/>
                    </a:solidFill>
                  </a:tcPr>
                </a:tc>
              </a:tr>
            </a:tbl>
          </a:graphicData>
        </a:graphic>
      </p:graphicFrame>
      <p:sp>
        <p:nvSpPr>
          <p:cNvPr id="8" name="TextBox 7"/>
          <p:cNvSpPr txBox="1"/>
          <p:nvPr/>
        </p:nvSpPr>
        <p:spPr>
          <a:xfrm>
            <a:off x="7589520" y="4572000"/>
            <a:ext cx="4114800" cy="1645920"/>
          </a:xfrm>
          <a:prstGeom prst="rect">
            <a:avLst/>
          </a:prstGeom>
          <a:noFill/>
        </p:spPr>
        <p:txBody>
          <a:bodyPr wrap="square">
            <a:spAutoFit/>
          </a:bodyPr>
          <a:lstStyle/>
          <a:p>
            <a:pPr>
              <a:spcAft>
                <a:spcPts val="800"/>
              </a:spcAft>
            </a:pPr>
            <a:r>
              <a:rPr sz="1600" b="0">
                <a:solidFill>
                  <a:srgbClr val="12302D"/>
                </a:solidFill>
                <a:latin typeface="Calibri"/>
              </a:rPr>
              <a:t>•  Runs on every push to main</a:t>
            </a:r>
          </a:p>
          <a:p>
            <a:pPr>
              <a:spcAft>
                <a:spcPts val="800"/>
              </a:spcAft>
            </a:pPr>
            <a:r>
              <a:rPr sz="1600" b="0">
                <a:solidFill>
                  <a:srgbClr val="12302D"/>
                </a:solidFill>
                <a:latin typeface="Calibri"/>
              </a:rPr>
              <a:t>•  Images are tagged with the commit, never latest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Security checks before anything ships</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Both images scanned: zero serious findings</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7 / 14</a:t>
            </a:r>
          </a:p>
        </p:txBody>
      </p:sp>
      <p:pic>
        <p:nvPicPr>
          <p:cNvPr id="6" name="Picture 5" descr="trivy-backend-report.png"/>
          <p:cNvPicPr>
            <a:picLocks noChangeAspect="1"/>
          </p:cNvPicPr>
          <p:nvPr/>
        </p:nvPicPr>
        <p:blipFill>
          <a:blip r:embed="rId3"/>
          <a:stretch>
            <a:fillRect/>
          </a:stretch>
        </p:blipFill>
        <p:spPr>
          <a:xfrm>
            <a:off x="548640" y="1619715"/>
            <a:ext cx="3566159" cy="4441529"/>
          </a:xfrm>
          <a:prstGeom prst="rect">
            <a:avLst/>
          </a:prstGeom>
          <a:ln w="12700">
            <a:solidFill>
              <a:srgbClr val="B9CFCB"/>
            </a:solidFill>
          </a:ln>
        </p:spPr>
      </p:pic>
      <p:sp>
        <p:nvSpPr>
          <p:cNvPr id="7" name="TextBox 6"/>
          <p:cNvSpPr txBox="1"/>
          <p:nvPr/>
        </p:nvSpPr>
        <p:spPr>
          <a:xfrm>
            <a:off x="548640" y="6236208"/>
            <a:ext cx="3566160" cy="320040"/>
          </a:xfrm>
          <a:prstGeom prst="rect">
            <a:avLst/>
          </a:prstGeom>
          <a:noFill/>
        </p:spPr>
        <p:txBody>
          <a:bodyPr wrap="square">
            <a:spAutoFit/>
          </a:bodyPr>
          <a:lstStyle/>
          <a:p>
            <a:pPr>
              <a:spcAft>
                <a:spcPts val="600"/>
              </a:spcAft>
            </a:pPr>
            <a:r>
              <a:rPr sz="1100" b="0">
                <a:solidFill>
                  <a:srgbClr val="5B726F"/>
                </a:solidFill>
                <a:latin typeface="Calibri"/>
              </a:rPr>
              <a:t>Backend image: 0 vulnerabilities</a:t>
            </a:r>
          </a:p>
        </p:txBody>
      </p:sp>
      <p:pic>
        <p:nvPicPr>
          <p:cNvPr id="8" name="Picture 7" descr="trivy-frontend-report.png"/>
          <p:cNvPicPr>
            <a:picLocks noChangeAspect="1"/>
          </p:cNvPicPr>
          <p:nvPr/>
        </p:nvPicPr>
        <p:blipFill>
          <a:blip r:embed="rId4"/>
          <a:stretch>
            <a:fillRect/>
          </a:stretch>
        </p:blipFill>
        <p:spPr>
          <a:xfrm>
            <a:off x="4440758" y="1463040"/>
            <a:ext cx="3554322" cy="2286000"/>
          </a:xfrm>
          <a:prstGeom prst="rect">
            <a:avLst/>
          </a:prstGeom>
          <a:ln w="12700">
            <a:solidFill>
              <a:srgbClr val="B9CFCB"/>
            </a:solidFill>
          </a:ln>
        </p:spPr>
      </p:pic>
      <p:sp>
        <p:nvSpPr>
          <p:cNvPr id="9" name="TextBox 8"/>
          <p:cNvSpPr txBox="1"/>
          <p:nvPr/>
        </p:nvSpPr>
        <p:spPr>
          <a:xfrm>
            <a:off x="4297680" y="3767327"/>
            <a:ext cx="3840480" cy="320040"/>
          </a:xfrm>
          <a:prstGeom prst="rect">
            <a:avLst/>
          </a:prstGeom>
          <a:noFill/>
        </p:spPr>
        <p:txBody>
          <a:bodyPr wrap="square">
            <a:spAutoFit/>
          </a:bodyPr>
          <a:lstStyle/>
          <a:p>
            <a:pPr>
              <a:spcAft>
                <a:spcPts val="600"/>
              </a:spcAft>
            </a:pPr>
            <a:r>
              <a:rPr sz="1100" b="0">
                <a:solidFill>
                  <a:srgbClr val="5B726F"/>
                </a:solidFill>
                <a:latin typeface="Calibri"/>
              </a:rPr>
              <a:t>Frontend image: 0 vulnerabilities</a:t>
            </a:r>
          </a:p>
        </p:txBody>
      </p:sp>
      <p:pic>
        <p:nvPicPr>
          <p:cNvPr id="10" name="Picture 9" descr="ghcr-backend-package.png"/>
          <p:cNvPicPr>
            <a:picLocks noChangeAspect="1"/>
          </p:cNvPicPr>
          <p:nvPr/>
        </p:nvPicPr>
        <p:blipFill>
          <a:blip r:embed="rId5"/>
          <a:stretch>
            <a:fillRect/>
          </a:stretch>
        </p:blipFill>
        <p:spPr>
          <a:xfrm>
            <a:off x="4754880" y="4343400"/>
            <a:ext cx="2926080" cy="1828800"/>
          </a:xfrm>
          <a:prstGeom prst="rect">
            <a:avLst/>
          </a:prstGeom>
          <a:ln w="12700">
            <a:solidFill>
              <a:srgbClr val="B9CFCB"/>
            </a:solidFill>
          </a:ln>
        </p:spPr>
      </p:pic>
      <p:sp>
        <p:nvSpPr>
          <p:cNvPr id="11" name="TextBox 10"/>
          <p:cNvSpPr txBox="1"/>
          <p:nvPr/>
        </p:nvSpPr>
        <p:spPr>
          <a:xfrm>
            <a:off x="4297680" y="6190488"/>
            <a:ext cx="3840480" cy="320040"/>
          </a:xfrm>
          <a:prstGeom prst="rect">
            <a:avLst/>
          </a:prstGeom>
          <a:noFill/>
        </p:spPr>
        <p:txBody>
          <a:bodyPr wrap="square">
            <a:spAutoFit/>
          </a:bodyPr>
          <a:lstStyle/>
          <a:p>
            <a:pPr>
              <a:spcAft>
                <a:spcPts val="600"/>
              </a:spcAft>
            </a:pPr>
            <a:r>
              <a:rPr sz="1100" b="0">
                <a:solidFill>
                  <a:srgbClr val="5B726F"/>
                </a:solidFill>
                <a:latin typeface="Calibri"/>
              </a:rPr>
              <a:t>Published in GHCR, tagged with commits</a:t>
            </a:r>
          </a:p>
        </p:txBody>
      </p:sp>
      <p:sp>
        <p:nvSpPr>
          <p:cNvPr id="12" name="TextBox 11"/>
          <p:cNvSpPr txBox="1"/>
          <p:nvPr/>
        </p:nvSpPr>
        <p:spPr>
          <a:xfrm>
            <a:off x="8412480" y="1554480"/>
            <a:ext cx="3474720" cy="4572000"/>
          </a:xfrm>
          <a:prstGeom prst="rect">
            <a:avLst/>
          </a:prstGeom>
          <a:noFill/>
        </p:spPr>
        <p:txBody>
          <a:bodyPr wrap="square">
            <a:spAutoFit/>
          </a:bodyPr>
          <a:lstStyle/>
          <a:p>
            <a:pPr>
              <a:spcAft>
                <a:spcPts val="900"/>
              </a:spcAft>
            </a:pPr>
            <a:r>
              <a:rPr sz="1500" b="1">
                <a:solidFill>
                  <a:srgbClr val="12302D"/>
                </a:solidFill>
                <a:latin typeface="Calibri"/>
              </a:rPr>
              <a:t>Five kinds of check</a:t>
            </a:r>
          </a:p>
          <a:p>
            <a:pPr>
              <a:spcAft>
                <a:spcPts val="900"/>
              </a:spcAft>
            </a:pPr>
            <a:r>
              <a:rPr sz="1500" b="0">
                <a:solidFill>
                  <a:srgbClr val="12302D"/>
                </a:solidFill>
                <a:latin typeface="Calibri"/>
              </a:rPr>
              <a:t>Code: Bandit</a:t>
            </a:r>
          </a:p>
          <a:p>
            <a:pPr>
              <a:spcAft>
                <a:spcPts val="900"/>
              </a:spcAft>
            </a:pPr>
            <a:r>
              <a:rPr sz="1500" b="0">
                <a:solidFill>
                  <a:srgbClr val="12302D"/>
                </a:solidFill>
                <a:latin typeface="Calibri"/>
              </a:rPr>
              <a:t>Libraries: pip-audit, npm audit</a:t>
            </a:r>
          </a:p>
          <a:p>
            <a:pPr>
              <a:spcAft>
                <a:spcPts val="900"/>
              </a:spcAft>
            </a:pPr>
            <a:r>
              <a:rPr sz="1500" b="0">
                <a:solidFill>
                  <a:srgbClr val="12302D"/>
                </a:solidFill>
                <a:latin typeface="Calibri"/>
              </a:rPr>
              <a:t>Secrets in history: Gitleaks</a:t>
            </a:r>
          </a:p>
          <a:p>
            <a:pPr>
              <a:spcAft>
                <a:spcPts val="900"/>
              </a:spcAft>
            </a:pPr>
            <a:r>
              <a:rPr sz="1500" b="0">
                <a:solidFill>
                  <a:srgbClr val="12302D"/>
                </a:solidFill>
                <a:latin typeface="Calibri"/>
              </a:rPr>
              <a:t>Images: Trivy, blocks the build</a:t>
            </a:r>
          </a:p>
          <a:p>
            <a:pPr>
              <a:spcAft>
                <a:spcPts val="900"/>
              </a:spcAft>
            </a:pPr>
            <a:r>
              <a:rPr sz="1500" b="0">
                <a:solidFill>
                  <a:srgbClr val="12302D"/>
                </a:solidFill>
                <a:latin typeface="Calibri"/>
              </a:rPr>
              <a:t>A clean scan is not proof of safety. It means nothing fixable was known that 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Cloud infrastructure built from code</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A real network and Kubernetes cluster on AWS, built and then removed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8 / 14</a:t>
            </a:r>
          </a:p>
        </p:txBody>
      </p:sp>
      <p:pic>
        <p:nvPicPr>
          <p:cNvPr id="6" name="Picture 5" descr="aws-eks-cluster.png"/>
          <p:cNvPicPr>
            <a:picLocks noChangeAspect="1"/>
          </p:cNvPicPr>
          <p:nvPr/>
        </p:nvPicPr>
        <p:blipFill>
          <a:blip r:embed="rId3"/>
          <a:stretch>
            <a:fillRect/>
          </a:stretch>
        </p:blipFill>
        <p:spPr>
          <a:xfrm>
            <a:off x="548640" y="1545321"/>
            <a:ext cx="3749039" cy="2029996"/>
          </a:xfrm>
          <a:prstGeom prst="rect">
            <a:avLst/>
          </a:prstGeom>
          <a:ln w="12700">
            <a:solidFill>
              <a:srgbClr val="B9CFCB"/>
            </a:solidFill>
          </a:ln>
        </p:spPr>
      </p:pic>
      <p:sp>
        <p:nvSpPr>
          <p:cNvPr id="7" name="TextBox 6"/>
          <p:cNvSpPr txBox="1"/>
          <p:nvPr/>
        </p:nvSpPr>
        <p:spPr>
          <a:xfrm>
            <a:off x="548640" y="3675887"/>
            <a:ext cx="3749039" cy="320040"/>
          </a:xfrm>
          <a:prstGeom prst="rect">
            <a:avLst/>
          </a:prstGeom>
          <a:noFill/>
        </p:spPr>
        <p:txBody>
          <a:bodyPr wrap="square">
            <a:spAutoFit/>
          </a:bodyPr>
          <a:lstStyle/>
          <a:p>
            <a:pPr>
              <a:spcAft>
                <a:spcPts val="600"/>
              </a:spcAft>
            </a:pPr>
            <a:r>
              <a:rPr sz="1100" b="0">
                <a:solidFill>
                  <a:srgbClr val="5B726F"/>
                </a:solidFill>
                <a:latin typeface="Calibri"/>
              </a:rPr>
              <a:t>EKS cluster: Active</a:t>
            </a:r>
          </a:p>
        </p:txBody>
      </p:sp>
      <p:pic>
        <p:nvPicPr>
          <p:cNvPr id="8" name="Picture 7" descr="aws-vpc.png"/>
          <p:cNvPicPr>
            <a:picLocks noChangeAspect="1"/>
          </p:cNvPicPr>
          <p:nvPr/>
        </p:nvPicPr>
        <p:blipFill>
          <a:blip r:embed="rId4"/>
          <a:stretch>
            <a:fillRect/>
          </a:stretch>
        </p:blipFill>
        <p:spPr>
          <a:xfrm>
            <a:off x="548640" y="4023980"/>
            <a:ext cx="3749039" cy="2010439"/>
          </a:xfrm>
          <a:prstGeom prst="rect">
            <a:avLst/>
          </a:prstGeom>
          <a:ln w="12700">
            <a:solidFill>
              <a:srgbClr val="B9CFCB"/>
            </a:solidFill>
          </a:ln>
        </p:spPr>
      </p:pic>
      <p:sp>
        <p:nvSpPr>
          <p:cNvPr id="9" name="TextBox 8"/>
          <p:cNvSpPr txBox="1"/>
          <p:nvPr/>
        </p:nvSpPr>
        <p:spPr>
          <a:xfrm>
            <a:off x="548640" y="6144767"/>
            <a:ext cx="3749039" cy="320040"/>
          </a:xfrm>
          <a:prstGeom prst="rect">
            <a:avLst/>
          </a:prstGeom>
          <a:noFill/>
        </p:spPr>
        <p:txBody>
          <a:bodyPr wrap="square">
            <a:spAutoFit/>
          </a:bodyPr>
          <a:lstStyle/>
          <a:p>
            <a:pPr>
              <a:spcAft>
                <a:spcPts val="600"/>
              </a:spcAft>
            </a:pPr>
            <a:r>
              <a:rPr sz="1100" b="0">
                <a:solidFill>
                  <a:srgbClr val="5B726F"/>
                </a:solidFill>
                <a:latin typeface="Calibri"/>
              </a:rPr>
              <a:t>The network (VPC)</a:t>
            </a:r>
          </a:p>
        </p:txBody>
      </p:sp>
      <p:pic>
        <p:nvPicPr>
          <p:cNvPr id="10" name="Picture 9" descr="terminal-terraform-plan.png"/>
          <p:cNvPicPr>
            <a:picLocks noChangeAspect="1"/>
          </p:cNvPicPr>
          <p:nvPr/>
        </p:nvPicPr>
        <p:blipFill>
          <a:blip r:embed="rId5"/>
          <a:stretch>
            <a:fillRect/>
          </a:stretch>
        </p:blipFill>
        <p:spPr>
          <a:xfrm>
            <a:off x="4480560" y="1526273"/>
            <a:ext cx="4389120" cy="2068093"/>
          </a:xfrm>
          <a:prstGeom prst="rect">
            <a:avLst/>
          </a:prstGeom>
          <a:ln w="12700">
            <a:solidFill>
              <a:srgbClr val="B9CFCB"/>
            </a:solidFill>
          </a:ln>
        </p:spPr>
      </p:pic>
      <p:sp>
        <p:nvSpPr>
          <p:cNvPr id="11" name="TextBox 10"/>
          <p:cNvSpPr txBox="1"/>
          <p:nvPr/>
        </p:nvSpPr>
        <p:spPr>
          <a:xfrm>
            <a:off x="4480560" y="3675887"/>
            <a:ext cx="4389120" cy="320040"/>
          </a:xfrm>
          <a:prstGeom prst="rect">
            <a:avLst/>
          </a:prstGeom>
          <a:noFill/>
        </p:spPr>
        <p:txBody>
          <a:bodyPr wrap="square">
            <a:spAutoFit/>
          </a:bodyPr>
          <a:lstStyle/>
          <a:p>
            <a:pPr>
              <a:spcAft>
                <a:spcPts val="600"/>
              </a:spcAft>
            </a:pPr>
            <a:r>
              <a:rPr sz="1100" b="0">
                <a:solidFill>
                  <a:srgbClr val="5B726F"/>
                </a:solidFill>
                <a:latin typeface="Calibri"/>
              </a:rPr>
              <a:t>Plan: 48 resources to add</a:t>
            </a:r>
          </a:p>
        </p:txBody>
      </p:sp>
      <p:pic>
        <p:nvPicPr>
          <p:cNvPr id="12" name="Picture 11" descr="terminal-terraform-destroy-transcript.png"/>
          <p:cNvPicPr>
            <a:picLocks noChangeAspect="1"/>
          </p:cNvPicPr>
          <p:nvPr/>
        </p:nvPicPr>
        <p:blipFill>
          <a:blip r:embed="rId6"/>
          <a:stretch>
            <a:fillRect/>
          </a:stretch>
        </p:blipFill>
        <p:spPr>
          <a:xfrm>
            <a:off x="4480560" y="4353026"/>
            <a:ext cx="4389120" cy="986586"/>
          </a:xfrm>
          <a:prstGeom prst="rect">
            <a:avLst/>
          </a:prstGeom>
          <a:ln w="12700">
            <a:solidFill>
              <a:srgbClr val="B9CFCB"/>
            </a:solidFill>
          </a:ln>
        </p:spPr>
      </p:pic>
      <p:sp>
        <p:nvSpPr>
          <p:cNvPr id="13" name="TextBox 12"/>
          <p:cNvSpPr txBox="1"/>
          <p:nvPr/>
        </p:nvSpPr>
        <p:spPr>
          <a:xfrm>
            <a:off x="4480560" y="5779007"/>
            <a:ext cx="4389120" cy="320040"/>
          </a:xfrm>
          <a:prstGeom prst="rect">
            <a:avLst/>
          </a:prstGeom>
          <a:noFill/>
        </p:spPr>
        <p:txBody>
          <a:bodyPr wrap="square">
            <a:spAutoFit/>
          </a:bodyPr>
          <a:lstStyle/>
          <a:p>
            <a:pPr>
              <a:spcAft>
                <a:spcPts val="600"/>
              </a:spcAft>
            </a:pPr>
            <a:r>
              <a:rPr sz="1100" b="0">
                <a:solidFill>
                  <a:srgbClr val="5B726F"/>
                </a:solidFill>
                <a:latin typeface="Calibri"/>
              </a:rPr>
              <a:t>Destroyed: 48 resources removed</a:t>
            </a:r>
          </a:p>
        </p:txBody>
      </p:sp>
      <p:sp>
        <p:nvSpPr>
          <p:cNvPr id="14" name="TextBox 13"/>
          <p:cNvSpPr txBox="1"/>
          <p:nvPr/>
        </p:nvSpPr>
        <p:spPr>
          <a:xfrm>
            <a:off x="9052560" y="1554480"/>
            <a:ext cx="2834640" cy="4572000"/>
          </a:xfrm>
          <a:prstGeom prst="rect">
            <a:avLst/>
          </a:prstGeom>
          <a:noFill/>
        </p:spPr>
        <p:txBody>
          <a:bodyPr wrap="square">
            <a:spAutoFit/>
          </a:bodyPr>
          <a:lstStyle/>
          <a:p>
            <a:pPr>
              <a:spcAft>
                <a:spcPts val="900"/>
              </a:spcAft>
            </a:pPr>
            <a:r>
              <a:rPr sz="1500" b="1">
                <a:solidFill>
                  <a:srgbClr val="12302D"/>
                </a:solidFill>
                <a:latin typeface="Calibri"/>
              </a:rPr>
              <a:t>Built, checked, destroyed</a:t>
            </a:r>
          </a:p>
          <a:p>
            <a:pPr>
              <a:spcAft>
                <a:spcPts val="900"/>
              </a:spcAft>
            </a:pPr>
            <a:r>
              <a:rPr sz="1500" b="0">
                <a:solidFill>
                  <a:srgbClr val="12302D"/>
                </a:solidFill>
                <a:latin typeface="Calibri"/>
              </a:rPr>
              <a:t>48 resources from code</a:t>
            </a:r>
          </a:p>
          <a:p>
            <a:pPr>
              <a:spcAft>
                <a:spcPts val="900"/>
              </a:spcAft>
            </a:pPr>
            <a:r>
              <a:rPr sz="1500" b="0">
                <a:solidFill>
                  <a:srgbClr val="12302D"/>
                </a:solidFill>
                <a:latin typeface="Calibri"/>
              </a:rPr>
              <a:t>Ran for about 45 minutes</a:t>
            </a:r>
          </a:p>
          <a:p>
            <a:pPr>
              <a:spcAft>
                <a:spcPts val="900"/>
              </a:spcAft>
            </a:pPr>
            <a:r>
              <a:rPr sz="1500" b="0">
                <a:solidFill>
                  <a:srgbClr val="12302D"/>
                </a:solidFill>
                <a:latin typeface="Calibri"/>
              </a:rPr>
              <a:t>About 10 US cents</a:t>
            </a:r>
          </a:p>
          <a:p>
            <a:pPr>
              <a:spcAft>
                <a:spcPts val="900"/>
              </a:spcAft>
            </a:pPr>
            <a:r>
              <a:rPr sz="1500" b="0">
                <a:solidFill>
                  <a:srgbClr val="12302D"/>
                </a:solidFill>
                <a:latin typeface="Calibri"/>
              </a:rPr>
              <a:t>Account checked: nothing left</a:t>
            </a:r>
          </a:p>
          <a:p>
            <a:pPr>
              <a:spcAft>
                <a:spcPts val="900"/>
              </a:spcAft>
            </a:pPr>
            <a:r>
              <a:rPr sz="1500" b="0">
                <a:solidFill>
                  <a:srgbClr val="12302D"/>
                </a:solidFill>
                <a:latin typeface="Calibri"/>
              </a:rPr>
              <a:t>First apply failed. I fixed the cause and wrote it 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Running on Kubernetes with Helm</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Two copies of the website and API, one entrance, and automatic scaling</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9 / 14</a:t>
            </a:r>
          </a:p>
        </p:txBody>
      </p:sp>
      <p:pic>
        <p:nvPicPr>
          <p:cNvPr id="6" name="Picture 5" descr="terminal-kubectl-helm.png"/>
          <p:cNvPicPr>
            <a:picLocks noChangeAspect="1"/>
          </p:cNvPicPr>
          <p:nvPr/>
        </p:nvPicPr>
        <p:blipFill>
          <a:blip r:embed="rId3"/>
          <a:stretch>
            <a:fillRect/>
          </a:stretch>
        </p:blipFill>
        <p:spPr>
          <a:xfrm>
            <a:off x="548640" y="1488392"/>
            <a:ext cx="7498079" cy="2601055"/>
          </a:xfrm>
          <a:prstGeom prst="rect">
            <a:avLst/>
          </a:prstGeom>
          <a:ln w="12700">
            <a:solidFill>
              <a:srgbClr val="B9CFCB"/>
            </a:solidFill>
          </a:ln>
        </p:spPr>
      </p:pic>
      <p:sp>
        <p:nvSpPr>
          <p:cNvPr id="7" name="TextBox 6"/>
          <p:cNvSpPr txBox="1"/>
          <p:nvPr/>
        </p:nvSpPr>
        <p:spPr>
          <a:xfrm>
            <a:off x="548640" y="4133087"/>
            <a:ext cx="7498079" cy="320040"/>
          </a:xfrm>
          <a:prstGeom prst="rect">
            <a:avLst/>
          </a:prstGeom>
          <a:noFill/>
        </p:spPr>
        <p:txBody>
          <a:bodyPr wrap="square">
            <a:spAutoFit/>
          </a:bodyPr>
          <a:lstStyle/>
          <a:p>
            <a:pPr>
              <a:spcAft>
                <a:spcPts val="600"/>
              </a:spcAft>
            </a:pPr>
            <a:r>
              <a:rPr sz="1100" b="0">
                <a:solidFill>
                  <a:srgbClr val="5B726F"/>
                </a:solidFill>
                <a:latin typeface="Calibri"/>
              </a:rPr>
              <a:t>Pods running, services, Helm release, ingress and autoscaler</a:t>
            </a:r>
          </a:p>
        </p:txBody>
      </p:sp>
      <p:pic>
        <p:nvPicPr>
          <p:cNvPr id="8" name="Picture 7" descr="app-desktop.png"/>
          <p:cNvPicPr>
            <a:picLocks noChangeAspect="1"/>
          </p:cNvPicPr>
          <p:nvPr/>
        </p:nvPicPr>
        <p:blipFill>
          <a:blip r:embed="rId4"/>
          <a:stretch>
            <a:fillRect/>
          </a:stretch>
        </p:blipFill>
        <p:spPr>
          <a:xfrm>
            <a:off x="8229600" y="1463040"/>
            <a:ext cx="3657600" cy="2286000"/>
          </a:xfrm>
          <a:prstGeom prst="rect">
            <a:avLst/>
          </a:prstGeom>
          <a:ln w="12700">
            <a:solidFill>
              <a:srgbClr val="B9CFCB"/>
            </a:solidFill>
          </a:ln>
        </p:spPr>
      </p:pic>
      <p:sp>
        <p:nvSpPr>
          <p:cNvPr id="9" name="TextBox 8"/>
          <p:cNvSpPr txBox="1"/>
          <p:nvPr/>
        </p:nvSpPr>
        <p:spPr>
          <a:xfrm>
            <a:off x="8229600" y="3767327"/>
            <a:ext cx="3657600" cy="320040"/>
          </a:xfrm>
          <a:prstGeom prst="rect">
            <a:avLst/>
          </a:prstGeom>
          <a:noFill/>
        </p:spPr>
        <p:txBody>
          <a:bodyPr wrap="square">
            <a:spAutoFit/>
          </a:bodyPr>
          <a:lstStyle/>
          <a:p>
            <a:pPr>
              <a:spcAft>
                <a:spcPts val="600"/>
              </a:spcAft>
            </a:pPr>
            <a:r>
              <a:rPr sz="1100" b="0">
                <a:solidFill>
                  <a:srgbClr val="5B726F"/>
                </a:solidFill>
                <a:latin typeface="Calibri"/>
              </a:rPr>
              <a:t>The application, reached through the ingress</a:t>
            </a:r>
          </a:p>
        </p:txBody>
      </p:sp>
      <p:graphicFrame>
        <p:nvGraphicFramePr>
          <p:cNvPr id="10" name="Table 9"/>
          <p:cNvGraphicFramePr>
            <a:graphicFrameLocks noGrp="1"/>
          </p:cNvGraphicFramePr>
          <p:nvPr/>
        </p:nvGraphicFramePr>
        <p:xfrm>
          <a:off x="548640" y="4480560"/>
          <a:ext cx="7498080" cy="1463040"/>
        </p:xfrm>
        <a:graphic>
          <a:graphicData uri="http://schemas.openxmlformats.org/drawingml/2006/table">
            <a:tbl>
              <a:tblPr firstRow="1" bandRow="1">
                <a:tableStyleId>{5C22544A-7EE6-4342-B048-85BDC9FD1C3A}</a:tableStyleId>
              </a:tblPr>
              <a:tblGrid>
                <a:gridCol w="2377440"/>
                <a:gridCol w="5120640"/>
              </a:tblGrid>
              <a:tr h="365760">
                <a:tc>
                  <a:txBody>
                    <a:bodyPr/>
                    <a:lstStyle/>
                    <a:p>
                      <a:r>
                        <a:rPr sz="1400" b="1">
                          <a:solidFill>
                            <a:srgbClr val="FFFFFF"/>
                          </a:solidFill>
                          <a:latin typeface="Calibri"/>
                        </a:rPr>
                        <a:t>Autoscaling test</a:t>
                      </a:r>
                    </a:p>
                  </a:txBody>
                  <a:tcPr marL="73152" marR="73152">
                    <a:solidFill>
                      <a:srgbClr val="0F766E"/>
                    </a:solidFill>
                  </a:tcPr>
                </a:tc>
                <a:tc>
                  <a:txBody>
                    <a:bodyPr/>
                    <a:lstStyle/>
                    <a:p>
                      <a:r>
                        <a:rPr sz="1400" b="1">
                          <a:solidFill>
                            <a:srgbClr val="FFFFFF"/>
                          </a:solidFill>
                          <a:latin typeface="Calibri"/>
                        </a:rPr>
                        <a:t>What happened</a:t>
                      </a:r>
                    </a:p>
                  </a:txBody>
                  <a:tcPr marL="73152" marR="73152">
                    <a:solidFill>
                      <a:srgbClr val="0F766E"/>
                    </a:solidFill>
                  </a:tcPr>
                </a:tc>
              </a:tr>
              <a:tr h="365760">
                <a:tc>
                  <a:txBody>
                    <a:bodyPr/>
                    <a:lstStyle/>
                    <a:p>
                      <a:r>
                        <a:rPr sz="1400">
                          <a:solidFill>
                            <a:srgbClr val="12302D"/>
                          </a:solidFill>
                          <a:latin typeface="Calibri"/>
                        </a:rPr>
                        <a:t>Load starts</a:t>
                      </a:r>
                    </a:p>
                  </a:txBody>
                  <a:tcPr marL="73152" marR="73152">
                    <a:solidFill>
                      <a:srgbClr val="FFFFFF"/>
                    </a:solidFill>
                  </a:tcPr>
                </a:tc>
                <a:tc>
                  <a:txBody>
                    <a:bodyPr/>
                    <a:lstStyle/>
                    <a:p>
                      <a:r>
                        <a:rPr sz="1400">
                          <a:solidFill>
                            <a:srgbClr val="12302D"/>
                          </a:solidFill>
                          <a:latin typeface="Calibri"/>
                        </a:rPr>
                        <a:t>2 API copies, CPU 3 percent</a:t>
                      </a:r>
                    </a:p>
                  </a:txBody>
                  <a:tcPr marL="73152" marR="73152">
                    <a:solidFill>
                      <a:srgbClr val="FFFFFF"/>
                    </a:solidFill>
                  </a:tcPr>
                </a:tc>
              </a:tr>
              <a:tr h="365760">
                <a:tc>
                  <a:txBody>
                    <a:bodyPr/>
                    <a:lstStyle/>
                    <a:p>
                      <a:r>
                        <a:rPr sz="1400">
                          <a:solidFill>
                            <a:srgbClr val="12302D"/>
                          </a:solidFill>
                          <a:latin typeface="Calibri"/>
                        </a:rPr>
                        <a:t>Under load</a:t>
                      </a:r>
                    </a:p>
                  </a:txBody>
                  <a:tcPr marL="73152" marR="73152">
                    <a:solidFill>
                      <a:srgbClr val="D7ECE9"/>
                    </a:solidFill>
                  </a:tcPr>
                </a:tc>
                <a:tc>
                  <a:txBody>
                    <a:bodyPr/>
                    <a:lstStyle/>
                    <a:p>
                      <a:r>
                        <a:rPr sz="1400">
                          <a:solidFill>
                            <a:srgbClr val="12302D"/>
                          </a:solidFill>
                          <a:latin typeface="Calibri"/>
                        </a:rPr>
                        <a:t>CPU 428 percent, grows to 5 copies</a:t>
                      </a:r>
                    </a:p>
                  </a:txBody>
                  <a:tcPr marL="73152" marR="73152">
                    <a:solidFill>
                      <a:srgbClr val="D7ECE9"/>
                    </a:solidFill>
                  </a:tcPr>
                </a:tc>
              </a:tr>
              <a:tr h="365760">
                <a:tc>
                  <a:txBody>
                    <a:bodyPr/>
                    <a:lstStyle/>
                    <a:p>
                      <a:r>
                        <a:rPr sz="1400">
                          <a:solidFill>
                            <a:srgbClr val="12302D"/>
                          </a:solidFill>
                          <a:latin typeface="Calibri"/>
                        </a:rPr>
                        <a:t>Load stops</a:t>
                      </a:r>
                    </a:p>
                  </a:txBody>
                  <a:tcPr marL="73152" marR="73152">
                    <a:solidFill>
                      <a:srgbClr val="FFFFFF"/>
                    </a:solidFill>
                  </a:tcPr>
                </a:tc>
                <a:tc>
                  <a:txBody>
                    <a:bodyPr/>
                    <a:lstStyle/>
                    <a:p>
                      <a:r>
                        <a:rPr sz="1400">
                          <a:solidFill>
                            <a:srgbClr val="12302D"/>
                          </a:solidFill>
                          <a:latin typeface="Calibri"/>
                        </a:rPr>
                        <a:t>Back to 2 copies about four minutes later</a:t>
                      </a:r>
                    </a:p>
                  </a:txBody>
                  <a:tcPr marL="73152" marR="73152">
                    <a:solidFill>
                      <a:srgbClr val="FFFFFF"/>
                    </a:solidFill>
                  </a:tcPr>
                </a:tc>
              </a:tr>
            </a:tbl>
          </a:graphicData>
        </a:graphic>
      </p:graphicFrame>
      <p:sp>
        <p:nvSpPr>
          <p:cNvPr id="11" name="TextBox 10"/>
          <p:cNvSpPr txBox="1"/>
          <p:nvPr/>
        </p:nvSpPr>
        <p:spPr>
          <a:xfrm>
            <a:off x="8229600" y="4023360"/>
            <a:ext cx="3657600" cy="2194560"/>
          </a:xfrm>
          <a:prstGeom prst="rect">
            <a:avLst/>
          </a:prstGeom>
          <a:noFill/>
        </p:spPr>
        <p:txBody>
          <a:bodyPr wrap="square">
            <a:spAutoFit/>
          </a:bodyPr>
          <a:lstStyle/>
          <a:p>
            <a:pPr>
              <a:spcAft>
                <a:spcPts val="800"/>
              </a:spcAft>
            </a:pPr>
            <a:r>
              <a:rPr sz="1500" b="0">
                <a:solidFill>
                  <a:srgbClr val="12302D"/>
                </a:solidFill>
                <a:latin typeface="Calibri"/>
              </a:rPr>
              <a:t>•  Settings in a ConfigMap</a:t>
            </a:r>
          </a:p>
          <a:p>
            <a:pPr>
              <a:spcAft>
                <a:spcPts val="800"/>
              </a:spcAft>
            </a:pPr>
            <a:r>
              <a:rPr sz="1500" b="0">
                <a:solidFill>
                  <a:srgbClr val="12302D"/>
                </a:solidFill>
                <a:latin typeface="Calibri"/>
              </a:rPr>
              <a:t>•  Password in a Secret, never in Git</a:t>
            </a:r>
          </a:p>
          <a:p>
            <a:pPr>
              <a:spcAft>
                <a:spcPts val="800"/>
              </a:spcAft>
            </a:pPr>
            <a:r>
              <a:rPr sz="1500" b="0">
                <a:solidFill>
                  <a:srgbClr val="12302D"/>
                </a:solidFill>
                <a:latin typeface="Calibri"/>
              </a:rPr>
              <a:t>•  One entrance: / and /api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Watching the system run</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Metrics and logs together on one dashboard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10 / 14</a:t>
            </a:r>
          </a:p>
        </p:txBody>
      </p:sp>
      <p:pic>
        <p:nvPicPr>
          <p:cNvPr id="6" name="Picture 5" descr="grafana-dashboard-with-logs.png"/>
          <p:cNvPicPr>
            <a:picLocks noChangeAspect="1"/>
          </p:cNvPicPr>
          <p:nvPr/>
        </p:nvPicPr>
        <p:blipFill>
          <a:blip r:embed="rId3"/>
          <a:stretch>
            <a:fillRect/>
          </a:stretch>
        </p:blipFill>
        <p:spPr>
          <a:xfrm>
            <a:off x="1325880" y="1371600"/>
            <a:ext cx="4846320" cy="4846320"/>
          </a:xfrm>
          <a:prstGeom prst="rect">
            <a:avLst/>
          </a:prstGeom>
          <a:ln w="12700">
            <a:solidFill>
              <a:srgbClr val="B9CFCB"/>
            </a:solidFill>
          </a:ln>
        </p:spPr>
      </p:pic>
      <p:sp>
        <p:nvSpPr>
          <p:cNvPr id="7" name="TextBox 6"/>
          <p:cNvSpPr txBox="1"/>
          <p:nvPr/>
        </p:nvSpPr>
        <p:spPr>
          <a:xfrm>
            <a:off x="548640" y="6236207"/>
            <a:ext cx="6400800" cy="320040"/>
          </a:xfrm>
          <a:prstGeom prst="rect">
            <a:avLst/>
          </a:prstGeom>
          <a:noFill/>
        </p:spPr>
        <p:txBody>
          <a:bodyPr wrap="square">
            <a:spAutoFit/>
          </a:bodyPr>
          <a:lstStyle/>
          <a:p>
            <a:pPr>
              <a:spcAft>
                <a:spcPts val="600"/>
              </a:spcAft>
            </a:pPr>
            <a:r>
              <a:rPr sz="1100" b="0">
                <a:solidFill>
                  <a:srgbClr val="5B726F"/>
                </a:solidFill>
                <a:latin typeface="Calibri"/>
              </a:rPr>
              <a:t>Grafana: requests, speed, errors, conflicts, CPU, scaling and logs</a:t>
            </a:r>
          </a:p>
        </p:txBody>
      </p:sp>
      <p:pic>
        <p:nvPicPr>
          <p:cNvPr id="8" name="Picture 7" descr="prometheus-targets.png"/>
          <p:cNvPicPr>
            <a:picLocks noChangeAspect="1"/>
          </p:cNvPicPr>
          <p:nvPr/>
        </p:nvPicPr>
        <p:blipFill>
          <a:blip r:embed="rId4"/>
          <a:stretch>
            <a:fillRect/>
          </a:stretch>
        </p:blipFill>
        <p:spPr>
          <a:xfrm>
            <a:off x="7223760" y="1489773"/>
            <a:ext cx="2377440" cy="2415413"/>
          </a:xfrm>
          <a:prstGeom prst="rect">
            <a:avLst/>
          </a:prstGeom>
          <a:ln w="12700">
            <a:solidFill>
              <a:srgbClr val="B9CFCB"/>
            </a:solidFill>
          </a:ln>
        </p:spPr>
      </p:pic>
      <p:sp>
        <p:nvSpPr>
          <p:cNvPr id="9" name="TextBox 8"/>
          <p:cNvSpPr txBox="1"/>
          <p:nvPr/>
        </p:nvSpPr>
        <p:spPr>
          <a:xfrm>
            <a:off x="7223760" y="3950208"/>
            <a:ext cx="2377440" cy="320040"/>
          </a:xfrm>
          <a:prstGeom prst="rect">
            <a:avLst/>
          </a:prstGeom>
          <a:noFill/>
        </p:spPr>
        <p:txBody>
          <a:bodyPr wrap="square">
            <a:spAutoFit/>
          </a:bodyPr>
          <a:lstStyle/>
          <a:p>
            <a:pPr>
              <a:spcAft>
                <a:spcPts val="600"/>
              </a:spcAft>
            </a:pPr>
            <a:r>
              <a:rPr sz="1100" b="0">
                <a:solidFill>
                  <a:srgbClr val="5B726F"/>
                </a:solidFill>
                <a:latin typeface="Calibri"/>
              </a:rPr>
              <a:t>Prometheus: every API copy is up</a:t>
            </a:r>
          </a:p>
        </p:txBody>
      </p:sp>
      <p:pic>
        <p:nvPicPr>
          <p:cNvPr id="10" name="Picture 9" descr="terminal-monitoring-metrics.png"/>
          <p:cNvPicPr>
            <a:picLocks noChangeAspect="1"/>
          </p:cNvPicPr>
          <p:nvPr/>
        </p:nvPicPr>
        <p:blipFill>
          <a:blip r:embed="rId5"/>
          <a:stretch>
            <a:fillRect/>
          </a:stretch>
        </p:blipFill>
        <p:spPr>
          <a:xfrm>
            <a:off x="9692640" y="2303672"/>
            <a:ext cx="2194560" cy="787614"/>
          </a:xfrm>
          <a:prstGeom prst="rect">
            <a:avLst/>
          </a:prstGeom>
          <a:ln w="12700">
            <a:solidFill>
              <a:srgbClr val="B9CFCB"/>
            </a:solidFill>
          </a:ln>
        </p:spPr>
      </p:pic>
      <p:sp>
        <p:nvSpPr>
          <p:cNvPr id="11" name="TextBox 10"/>
          <p:cNvSpPr txBox="1"/>
          <p:nvPr/>
        </p:nvSpPr>
        <p:spPr>
          <a:xfrm>
            <a:off x="9692640" y="3950208"/>
            <a:ext cx="2194560" cy="320040"/>
          </a:xfrm>
          <a:prstGeom prst="rect">
            <a:avLst/>
          </a:prstGeom>
          <a:noFill/>
        </p:spPr>
        <p:txBody>
          <a:bodyPr wrap="square">
            <a:spAutoFit/>
          </a:bodyPr>
          <a:lstStyle/>
          <a:p>
            <a:pPr>
              <a:spcAft>
                <a:spcPts val="600"/>
              </a:spcAft>
            </a:pPr>
            <a:r>
              <a:rPr sz="1100" b="0">
                <a:solidFill>
                  <a:srgbClr val="5B726F"/>
                </a:solidFill>
                <a:latin typeface="Calibri"/>
              </a:rPr>
              <a:t>The metrics endpoint</a:t>
            </a:r>
          </a:p>
        </p:txBody>
      </p:sp>
      <p:sp>
        <p:nvSpPr>
          <p:cNvPr id="12" name="TextBox 11"/>
          <p:cNvSpPr txBox="1"/>
          <p:nvPr/>
        </p:nvSpPr>
        <p:spPr>
          <a:xfrm>
            <a:off x="7223760" y="4297680"/>
            <a:ext cx="4663440" cy="2011680"/>
          </a:xfrm>
          <a:prstGeom prst="rect">
            <a:avLst/>
          </a:prstGeom>
          <a:noFill/>
        </p:spPr>
        <p:txBody>
          <a:bodyPr wrap="square">
            <a:spAutoFit/>
          </a:bodyPr>
          <a:lstStyle/>
          <a:p>
            <a:pPr>
              <a:spcAft>
                <a:spcPts val="800"/>
              </a:spcAft>
            </a:pPr>
            <a:r>
              <a:rPr sz="1600" b="0">
                <a:solidFill>
                  <a:srgbClr val="12302D"/>
                </a:solidFill>
                <a:latin typeface="Calibri"/>
              </a:rPr>
              <a:t>•  Metrics: Prometheus</a:t>
            </a:r>
          </a:p>
          <a:p>
            <a:pPr>
              <a:spcAft>
                <a:spcPts val="800"/>
              </a:spcAft>
            </a:pPr>
            <a:r>
              <a:rPr sz="1600" b="0">
                <a:solidFill>
                  <a:srgbClr val="12302D"/>
                </a:solidFill>
                <a:latin typeface="Calibri"/>
              </a:rPr>
              <a:t>•  Logs: Loki, collected by Alloy</a:t>
            </a:r>
          </a:p>
          <a:p>
            <a:pPr>
              <a:spcAft>
                <a:spcPts val="800"/>
              </a:spcAft>
            </a:pPr>
            <a:r>
              <a:rPr sz="1600" b="0">
                <a:solidFill>
                  <a:srgbClr val="12302D"/>
                </a:solidFill>
                <a:latin typeface="Calibri"/>
              </a:rPr>
              <a:t>•  Check: 105 conflicts created, 105 counted in the logs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Self-healing deployment, and fixing broken things</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Git is the source of truth, and I practised four real failures</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11 / 14</a:t>
            </a:r>
          </a:p>
        </p:txBody>
      </p:sp>
      <p:pic>
        <p:nvPicPr>
          <p:cNvPr id="6" name="Picture 5" descr="argocd-application.png"/>
          <p:cNvPicPr>
            <a:picLocks noChangeAspect="1"/>
          </p:cNvPicPr>
          <p:nvPr/>
        </p:nvPicPr>
        <p:blipFill>
          <a:blip r:embed="rId3"/>
          <a:stretch>
            <a:fillRect/>
          </a:stretch>
        </p:blipFill>
        <p:spPr>
          <a:xfrm>
            <a:off x="548640" y="1479804"/>
            <a:ext cx="5577840" cy="3532631"/>
          </a:xfrm>
          <a:prstGeom prst="rect">
            <a:avLst/>
          </a:prstGeom>
          <a:ln w="12700">
            <a:solidFill>
              <a:srgbClr val="B9CFCB"/>
            </a:solidFill>
          </a:ln>
        </p:spPr>
      </p:pic>
      <p:sp>
        <p:nvSpPr>
          <p:cNvPr id="7" name="TextBox 6"/>
          <p:cNvSpPr txBox="1"/>
          <p:nvPr/>
        </p:nvSpPr>
        <p:spPr>
          <a:xfrm>
            <a:off x="548640" y="5047488"/>
            <a:ext cx="5577840" cy="320040"/>
          </a:xfrm>
          <a:prstGeom prst="rect">
            <a:avLst/>
          </a:prstGeom>
          <a:noFill/>
        </p:spPr>
        <p:txBody>
          <a:bodyPr wrap="square">
            <a:spAutoFit/>
          </a:bodyPr>
          <a:lstStyle/>
          <a:p>
            <a:pPr>
              <a:spcAft>
                <a:spcPts val="600"/>
              </a:spcAft>
            </a:pPr>
            <a:r>
              <a:rPr sz="1100" b="0">
                <a:solidFill>
                  <a:srgbClr val="5B726F"/>
                </a:solidFill>
                <a:latin typeface="Calibri"/>
              </a:rPr>
              <a:t>Argo CD: Synced and Healthy</a:t>
            </a:r>
          </a:p>
        </p:txBody>
      </p:sp>
      <p:sp>
        <p:nvSpPr>
          <p:cNvPr id="8" name="TextBox 7"/>
          <p:cNvSpPr txBox="1"/>
          <p:nvPr/>
        </p:nvSpPr>
        <p:spPr>
          <a:xfrm>
            <a:off x="548640" y="5532120"/>
            <a:ext cx="5577840" cy="822960"/>
          </a:xfrm>
          <a:prstGeom prst="rect">
            <a:avLst/>
          </a:prstGeom>
          <a:noFill/>
        </p:spPr>
        <p:txBody>
          <a:bodyPr wrap="square">
            <a:spAutoFit/>
          </a:bodyPr>
          <a:lstStyle/>
          <a:p>
            <a:pPr>
              <a:spcAft>
                <a:spcPts val="400"/>
              </a:spcAft>
            </a:pPr>
            <a:r>
              <a:rPr sz="1500" b="0">
                <a:solidFill>
                  <a:srgbClr val="12302D"/>
                </a:solidFill>
                <a:latin typeface="Calibri"/>
              </a:rPr>
              <a:t>•  A commit changes the cluster</a:t>
            </a:r>
          </a:p>
          <a:p>
            <a:pPr>
              <a:spcAft>
                <a:spcPts val="400"/>
              </a:spcAft>
            </a:pPr>
            <a:r>
              <a:rPr sz="1500" b="0">
                <a:solidFill>
                  <a:srgbClr val="12302D"/>
                </a:solidFill>
                <a:latin typeface="Calibri"/>
              </a:rPr>
              <a:t>•  Manual changes are undone in seconds</a:t>
            </a:r>
          </a:p>
        </p:txBody>
      </p:sp>
      <p:graphicFrame>
        <p:nvGraphicFramePr>
          <p:cNvPr id="9" name="Table 8"/>
          <p:cNvGraphicFramePr>
            <a:graphicFrameLocks noGrp="1"/>
          </p:cNvGraphicFramePr>
          <p:nvPr/>
        </p:nvGraphicFramePr>
        <p:xfrm>
          <a:off x="6400800" y="1554480"/>
          <a:ext cx="5486400" cy="1828800"/>
        </p:xfrm>
        <a:graphic>
          <a:graphicData uri="http://schemas.openxmlformats.org/drawingml/2006/table">
            <a:tbl>
              <a:tblPr firstRow="1" bandRow="1">
                <a:tableStyleId>{5C22544A-7EE6-4342-B048-85BDC9FD1C3A}</a:tableStyleId>
              </a:tblPr>
              <a:tblGrid>
                <a:gridCol w="2651760"/>
                <a:gridCol w="2834640"/>
              </a:tblGrid>
              <a:tr h="365760">
                <a:tc>
                  <a:txBody>
                    <a:bodyPr/>
                    <a:lstStyle/>
                    <a:p>
                      <a:r>
                        <a:rPr sz="1400" b="1">
                          <a:solidFill>
                            <a:srgbClr val="FFFFFF"/>
                          </a:solidFill>
                          <a:latin typeface="Calibri"/>
                        </a:rPr>
                        <a:t>What I broke</a:t>
                      </a:r>
                    </a:p>
                  </a:txBody>
                  <a:tcPr marL="73152" marR="73152">
                    <a:solidFill>
                      <a:srgbClr val="0F766E"/>
                    </a:solidFill>
                  </a:tcPr>
                </a:tc>
                <a:tc>
                  <a:txBody>
                    <a:bodyPr/>
                    <a:lstStyle/>
                    <a:p>
                      <a:r>
                        <a:rPr sz="1400" b="1">
                          <a:solidFill>
                            <a:srgbClr val="FFFFFF"/>
                          </a:solidFill>
                          <a:latin typeface="Calibri"/>
                        </a:rPr>
                        <a:t>What I found</a:t>
                      </a:r>
                    </a:p>
                  </a:txBody>
                  <a:tcPr marL="73152" marR="73152">
                    <a:solidFill>
                      <a:srgbClr val="0F766E"/>
                    </a:solidFill>
                  </a:tcPr>
                </a:tc>
              </a:tr>
              <a:tr h="365760">
                <a:tc>
                  <a:txBody>
                    <a:bodyPr/>
                    <a:lstStyle/>
                    <a:p>
                      <a:r>
                        <a:rPr sz="1400">
                          <a:solidFill>
                            <a:srgbClr val="12302D"/>
                          </a:solidFill>
                          <a:latin typeface="Calibri"/>
                        </a:rPr>
                        <a:t>Wrong image name</a:t>
                      </a:r>
                    </a:p>
                  </a:txBody>
                  <a:tcPr marL="73152" marR="73152">
                    <a:solidFill>
                      <a:srgbClr val="FFFFFF"/>
                    </a:solidFill>
                  </a:tcPr>
                </a:tc>
                <a:tc>
                  <a:txBody>
                    <a:bodyPr/>
                    <a:lstStyle/>
                    <a:p>
                      <a:r>
                        <a:rPr sz="1400">
                          <a:solidFill>
                            <a:srgbClr val="12302D"/>
                          </a:solidFill>
                          <a:latin typeface="Calibri"/>
                        </a:rPr>
                        <a:t>Image cannot be pulled</a:t>
                      </a:r>
                    </a:p>
                  </a:txBody>
                  <a:tcPr marL="73152" marR="73152">
                    <a:solidFill>
                      <a:srgbClr val="FFFFFF"/>
                    </a:solidFill>
                  </a:tcPr>
                </a:tc>
              </a:tr>
              <a:tr h="365760">
                <a:tc>
                  <a:txBody>
                    <a:bodyPr/>
                    <a:lstStyle/>
                    <a:p>
                      <a:r>
                        <a:rPr sz="1400">
                          <a:solidFill>
                            <a:srgbClr val="12302D"/>
                          </a:solidFill>
                          <a:latin typeface="Calibri"/>
                        </a:rPr>
                        <a:t>Typo in a selector</a:t>
                      </a:r>
                    </a:p>
                  </a:txBody>
                  <a:tcPr marL="73152" marR="73152">
                    <a:solidFill>
                      <a:srgbClr val="D7ECE9"/>
                    </a:solidFill>
                  </a:tcPr>
                </a:tc>
                <a:tc>
                  <a:txBody>
                    <a:bodyPr/>
                    <a:lstStyle/>
                    <a:p>
                      <a:r>
                        <a:rPr sz="1400">
                          <a:solidFill>
                            <a:srgbClr val="12302D"/>
                          </a:solidFill>
                          <a:latin typeface="Calibri"/>
                        </a:rPr>
                        <a:t>Service has no endpoints</a:t>
                      </a:r>
                    </a:p>
                  </a:txBody>
                  <a:tcPr marL="73152" marR="73152">
                    <a:solidFill>
                      <a:srgbClr val="D7ECE9"/>
                    </a:solidFill>
                  </a:tcPr>
                </a:tc>
              </a:tr>
              <a:tr h="365760">
                <a:tc>
                  <a:txBody>
                    <a:bodyPr/>
                    <a:lstStyle/>
                    <a:p>
                      <a:r>
                        <a:rPr sz="1400">
                          <a:solidFill>
                            <a:srgbClr val="12302D"/>
                          </a:solidFill>
                          <a:latin typeface="Calibri"/>
                        </a:rPr>
                        <a:t>Wrong database address</a:t>
                      </a:r>
                    </a:p>
                  </a:txBody>
                  <a:tcPr marL="73152" marR="73152">
                    <a:solidFill>
                      <a:srgbClr val="FFFFFF"/>
                    </a:solidFill>
                  </a:tcPr>
                </a:tc>
                <a:tc>
                  <a:txBody>
                    <a:bodyPr/>
                    <a:lstStyle/>
                    <a:p>
                      <a:r>
                        <a:rPr sz="1400">
                          <a:solidFill>
                            <a:srgbClr val="12302D"/>
                          </a:solidFill>
                          <a:latin typeface="Calibri"/>
                        </a:rPr>
                        <a:t>Pod keeps restarting</a:t>
                      </a:r>
                    </a:p>
                  </a:txBody>
                  <a:tcPr marL="73152" marR="73152">
                    <a:solidFill>
                      <a:srgbClr val="FFFFFF"/>
                    </a:solidFill>
                  </a:tcPr>
                </a:tc>
              </a:tr>
              <a:tr h="365760">
                <a:tc>
                  <a:txBody>
                    <a:bodyPr/>
                    <a:lstStyle/>
                    <a:p>
                      <a:r>
                        <a:rPr sz="1400">
                          <a:solidFill>
                            <a:srgbClr val="12302D"/>
                          </a:solidFill>
                          <a:latin typeface="Calibri"/>
                        </a:rPr>
                        <a:t>Same address, no migration</a:t>
                      </a:r>
                    </a:p>
                  </a:txBody>
                  <a:tcPr marL="73152" marR="73152">
                    <a:solidFill>
                      <a:srgbClr val="D7ECE9"/>
                    </a:solidFill>
                  </a:tcPr>
                </a:tc>
                <a:tc>
                  <a:txBody>
                    <a:bodyPr/>
                    <a:lstStyle/>
                    <a:p>
                      <a:r>
                        <a:rPr sz="1400">
                          <a:solidFill>
                            <a:srgbClr val="12302D"/>
                          </a:solidFill>
                          <a:latin typeface="Calibri"/>
                        </a:rPr>
                        <a:t>Pod runs but is not ready</a:t>
                      </a:r>
                    </a:p>
                  </a:txBody>
                  <a:tcPr marL="73152" marR="73152">
                    <a:solidFill>
                      <a:srgbClr val="D7ECE9"/>
                    </a:solidFill>
                  </a:tcPr>
                </a:tc>
              </a:tr>
            </a:tbl>
          </a:graphicData>
        </a:graphic>
      </p:graphicFrame>
      <p:sp>
        <p:nvSpPr>
          <p:cNvPr id="10" name="TextBox 9"/>
          <p:cNvSpPr txBox="1"/>
          <p:nvPr/>
        </p:nvSpPr>
        <p:spPr>
          <a:xfrm>
            <a:off x="6400800" y="3840480"/>
            <a:ext cx="5486400" cy="2377440"/>
          </a:xfrm>
          <a:prstGeom prst="rect">
            <a:avLst/>
          </a:prstGeom>
          <a:noFill/>
        </p:spPr>
        <p:txBody>
          <a:bodyPr wrap="square">
            <a:spAutoFit/>
          </a:bodyPr>
          <a:lstStyle/>
          <a:p>
            <a:pPr>
              <a:spcAft>
                <a:spcPts val="800"/>
              </a:spcAft>
            </a:pPr>
            <a:r>
              <a:rPr sz="1500" b="0">
                <a:solidFill>
                  <a:srgbClr val="12302D"/>
                </a:solidFill>
                <a:latin typeface="Calibri"/>
              </a:rPr>
              <a:t>•  Each failure: identify, investigate, root cause, fix, verify.</a:t>
            </a:r>
          </a:p>
          <a:p>
            <a:pPr>
              <a:spcAft>
                <a:spcPts val="800"/>
              </a:spcAft>
            </a:pPr>
            <a:r>
              <a:rPr sz="1500" b="0">
                <a:solidFill>
                  <a:srgbClr val="12302D"/>
                </a:solidFill>
                <a:latin typeface="Calibri"/>
              </a:rPr>
              <a:t>•  Real transcripts for all four are in the repository.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Measure, change one thing, measure again</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Every improvement has a number from before and a number from after</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12 / 14</a:t>
            </a:r>
          </a:p>
        </p:txBody>
      </p:sp>
      <p:graphicFrame>
        <p:nvGraphicFramePr>
          <p:cNvPr id="6" name="Table 5"/>
          <p:cNvGraphicFramePr>
            <a:graphicFrameLocks noGrp="1"/>
          </p:cNvGraphicFramePr>
          <p:nvPr/>
        </p:nvGraphicFramePr>
        <p:xfrm>
          <a:off x="548640" y="1645920"/>
          <a:ext cx="6949440" cy="2194560"/>
        </p:xfrm>
        <a:graphic>
          <a:graphicData uri="http://schemas.openxmlformats.org/drawingml/2006/table">
            <a:tbl>
              <a:tblPr firstRow="1" bandRow="1">
                <a:tableStyleId>{5C22544A-7EE6-4342-B048-85BDC9FD1C3A}</a:tableStyleId>
              </a:tblPr>
              <a:tblGrid>
                <a:gridCol w="3291840"/>
                <a:gridCol w="2011680"/>
                <a:gridCol w="1645920"/>
              </a:tblGrid>
              <a:tr h="365760">
                <a:tc>
                  <a:txBody>
                    <a:bodyPr/>
                    <a:lstStyle/>
                    <a:p>
                      <a:r>
                        <a:rPr sz="1500" b="1">
                          <a:solidFill>
                            <a:srgbClr val="FFFFFF"/>
                          </a:solidFill>
                          <a:latin typeface="Calibri"/>
                        </a:rPr>
                        <a:t>What I measured</a:t>
                      </a:r>
                    </a:p>
                  </a:txBody>
                  <a:tcPr marL="73152" marR="73152">
                    <a:solidFill>
                      <a:srgbClr val="0F766E"/>
                    </a:solidFill>
                  </a:tcPr>
                </a:tc>
                <a:tc>
                  <a:txBody>
                    <a:bodyPr/>
                    <a:lstStyle/>
                    <a:p>
                      <a:r>
                        <a:rPr sz="1500" b="1">
                          <a:solidFill>
                            <a:srgbClr val="FFFFFF"/>
                          </a:solidFill>
                          <a:latin typeface="Calibri"/>
                        </a:rPr>
                        <a:t>Before</a:t>
                      </a:r>
                    </a:p>
                  </a:txBody>
                  <a:tcPr marL="73152" marR="73152">
                    <a:solidFill>
                      <a:srgbClr val="0F766E"/>
                    </a:solidFill>
                  </a:tcPr>
                </a:tc>
                <a:tc>
                  <a:txBody>
                    <a:bodyPr/>
                    <a:lstStyle/>
                    <a:p>
                      <a:r>
                        <a:rPr sz="1500" b="1">
                          <a:solidFill>
                            <a:srgbClr val="FFFFFF"/>
                          </a:solidFill>
                          <a:latin typeface="Calibri"/>
                        </a:rPr>
                        <a:t>After</a:t>
                      </a:r>
                    </a:p>
                  </a:txBody>
                  <a:tcPr marL="73152" marR="73152">
                    <a:solidFill>
                      <a:srgbClr val="0F766E"/>
                    </a:solidFill>
                  </a:tcPr>
                </a:tc>
              </a:tr>
              <a:tr h="365760">
                <a:tc>
                  <a:txBody>
                    <a:bodyPr/>
                    <a:lstStyle/>
                    <a:p>
                      <a:r>
                        <a:rPr sz="1500">
                          <a:solidFill>
                            <a:srgbClr val="12302D"/>
                          </a:solidFill>
                          <a:latin typeface="Calibri"/>
                        </a:rPr>
                        <a:t>Lost requests in a rollout</a:t>
                      </a:r>
                    </a:p>
                  </a:txBody>
                  <a:tcPr marL="73152" marR="73152">
                    <a:solidFill>
                      <a:srgbClr val="FFFFFF"/>
                    </a:solidFill>
                  </a:tcPr>
                </a:tc>
                <a:tc>
                  <a:txBody>
                    <a:bodyPr/>
                    <a:lstStyle/>
                    <a:p>
                      <a:r>
                        <a:rPr sz="1500">
                          <a:solidFill>
                            <a:srgbClr val="12302D"/>
                          </a:solidFill>
                          <a:latin typeface="Calibri"/>
                        </a:rPr>
                        <a:t>8 of 8 rollouts</a:t>
                      </a:r>
                    </a:p>
                  </a:txBody>
                  <a:tcPr marL="73152" marR="73152">
                    <a:solidFill>
                      <a:srgbClr val="FFFFFF"/>
                    </a:solidFill>
                  </a:tcPr>
                </a:tc>
                <a:tc>
                  <a:txBody>
                    <a:bodyPr/>
                    <a:lstStyle/>
                    <a:p>
                      <a:r>
                        <a:rPr sz="1500">
                          <a:solidFill>
                            <a:srgbClr val="12302D"/>
                          </a:solidFill>
                          <a:latin typeface="Calibri"/>
                        </a:rPr>
                        <a:t>0 of 6</a:t>
                      </a:r>
                    </a:p>
                  </a:txBody>
                  <a:tcPr marL="73152" marR="73152">
                    <a:solidFill>
                      <a:srgbClr val="FFFFFF"/>
                    </a:solidFill>
                  </a:tcPr>
                </a:tc>
              </a:tr>
              <a:tr h="365760">
                <a:tc>
                  <a:txBody>
                    <a:bodyPr/>
                    <a:lstStyle/>
                    <a:p>
                      <a:r>
                        <a:rPr sz="1500">
                          <a:solidFill>
                            <a:srgbClr val="12302D"/>
                          </a:solidFill>
                          <a:latin typeface="Calibri"/>
                        </a:rPr>
                        <a:t>Database errors seen by alerts</a:t>
                      </a:r>
                    </a:p>
                  </a:txBody>
                  <a:tcPr marL="73152" marR="73152">
                    <a:solidFill>
                      <a:srgbClr val="D7ECE9"/>
                    </a:solidFill>
                  </a:tcPr>
                </a:tc>
                <a:tc>
                  <a:txBody>
                    <a:bodyPr/>
                    <a:lstStyle/>
                    <a:p>
                      <a:r>
                        <a:rPr sz="1500">
                          <a:solidFill>
                            <a:srgbClr val="12302D"/>
                          </a:solidFill>
                          <a:latin typeface="Calibri"/>
                        </a:rPr>
                        <a:t>0 of 18</a:t>
                      </a:r>
                    </a:p>
                  </a:txBody>
                  <a:tcPr marL="73152" marR="73152">
                    <a:solidFill>
                      <a:srgbClr val="D7ECE9"/>
                    </a:solidFill>
                  </a:tcPr>
                </a:tc>
                <a:tc>
                  <a:txBody>
                    <a:bodyPr/>
                    <a:lstStyle/>
                    <a:p>
                      <a:r>
                        <a:rPr sz="1500">
                          <a:solidFill>
                            <a:srgbClr val="12302D"/>
                          </a:solidFill>
                          <a:latin typeface="Calibri"/>
                        </a:rPr>
                        <a:t>16 of 16</a:t>
                      </a:r>
                    </a:p>
                  </a:txBody>
                  <a:tcPr marL="73152" marR="73152">
                    <a:solidFill>
                      <a:srgbClr val="D7ECE9"/>
                    </a:solidFill>
                  </a:tcPr>
                </a:tc>
              </a:tr>
              <a:tr h="365760">
                <a:tc>
                  <a:txBody>
                    <a:bodyPr/>
                    <a:lstStyle/>
                    <a:p>
                      <a:r>
                        <a:rPr sz="1500">
                          <a:solidFill>
                            <a:srgbClr val="12302D"/>
                          </a:solidFill>
                          <a:latin typeface="Calibri"/>
                        </a:rPr>
                        <a:t>Alert on a broken deploy</a:t>
                      </a:r>
                    </a:p>
                  </a:txBody>
                  <a:tcPr marL="73152" marR="73152">
                    <a:solidFill>
                      <a:srgbClr val="FFFFFF"/>
                    </a:solidFill>
                  </a:tcPr>
                </a:tc>
                <a:tc>
                  <a:txBody>
                    <a:bodyPr/>
                    <a:lstStyle/>
                    <a:p>
                      <a:r>
                        <a:rPr sz="1500">
                          <a:solidFill>
                            <a:srgbClr val="12302D"/>
                          </a:solidFill>
                          <a:latin typeface="Calibri"/>
                        </a:rPr>
                        <a:t>none</a:t>
                      </a:r>
                    </a:p>
                  </a:txBody>
                  <a:tcPr marL="73152" marR="73152">
                    <a:solidFill>
                      <a:srgbClr val="FFFFFF"/>
                    </a:solidFill>
                  </a:tcPr>
                </a:tc>
                <a:tc>
                  <a:txBody>
                    <a:bodyPr/>
                    <a:lstStyle/>
                    <a:p>
                      <a:r>
                        <a:rPr sz="1500">
                          <a:solidFill>
                            <a:srgbClr val="12302D"/>
                          </a:solidFill>
                          <a:latin typeface="Calibri"/>
                        </a:rPr>
                        <a:t>fires in 185 s</a:t>
                      </a:r>
                    </a:p>
                  </a:txBody>
                  <a:tcPr marL="73152" marR="73152">
                    <a:solidFill>
                      <a:srgbClr val="FFFFFF"/>
                    </a:solidFill>
                  </a:tcPr>
                </a:tc>
              </a:tr>
              <a:tr h="365760">
                <a:tc>
                  <a:txBody>
                    <a:bodyPr/>
                    <a:lstStyle/>
                    <a:p>
                      <a:r>
                        <a:rPr sz="1500">
                          <a:solidFill>
                            <a:srgbClr val="12302D"/>
                          </a:solidFill>
                          <a:latin typeface="Calibri"/>
                        </a:rPr>
                        <a:t>Pipeline, median</a:t>
                      </a:r>
                    </a:p>
                  </a:txBody>
                  <a:tcPr marL="73152" marR="73152">
                    <a:solidFill>
                      <a:srgbClr val="D7ECE9"/>
                    </a:solidFill>
                  </a:tcPr>
                </a:tc>
                <a:tc>
                  <a:txBody>
                    <a:bodyPr/>
                    <a:lstStyle/>
                    <a:p>
                      <a:r>
                        <a:rPr sz="1500">
                          <a:solidFill>
                            <a:srgbClr val="12302D"/>
                          </a:solidFill>
                          <a:latin typeface="Calibri"/>
                        </a:rPr>
                        <a:t>238 s</a:t>
                      </a:r>
                    </a:p>
                  </a:txBody>
                  <a:tcPr marL="73152" marR="73152">
                    <a:solidFill>
                      <a:srgbClr val="D7ECE9"/>
                    </a:solidFill>
                  </a:tcPr>
                </a:tc>
                <a:tc>
                  <a:txBody>
                    <a:bodyPr/>
                    <a:lstStyle/>
                    <a:p>
                      <a:r>
                        <a:rPr sz="1500">
                          <a:solidFill>
                            <a:srgbClr val="12302D"/>
                          </a:solidFill>
                          <a:latin typeface="Calibri"/>
                        </a:rPr>
                        <a:t>148 s</a:t>
                      </a:r>
                    </a:p>
                  </a:txBody>
                  <a:tcPr marL="73152" marR="73152">
                    <a:solidFill>
                      <a:srgbClr val="D7ECE9"/>
                    </a:solidFill>
                  </a:tcPr>
                </a:tc>
              </a:tr>
              <a:tr h="365760">
                <a:tc>
                  <a:txBody>
                    <a:bodyPr/>
                    <a:lstStyle/>
                    <a:p>
                      <a:r>
                        <a:rPr sz="1500">
                          <a:solidFill>
                            <a:srgbClr val="12302D"/>
                          </a:solidFill>
                          <a:latin typeface="Calibri"/>
                        </a:rPr>
                        <a:t>Restore after a mass delete</a:t>
                      </a:r>
                    </a:p>
                  </a:txBody>
                  <a:tcPr marL="73152" marR="73152">
                    <a:solidFill>
                      <a:srgbClr val="FFFFFF"/>
                    </a:solidFill>
                  </a:tcPr>
                </a:tc>
                <a:tc>
                  <a:txBody>
                    <a:bodyPr/>
                    <a:lstStyle/>
                    <a:p>
                      <a:r>
                        <a:rPr sz="1500">
                          <a:solidFill>
                            <a:srgbClr val="12302D"/>
                          </a:solidFill>
                          <a:latin typeface="Calibri"/>
                        </a:rPr>
                        <a:t>no backup</a:t>
                      </a:r>
                    </a:p>
                  </a:txBody>
                  <a:tcPr marL="73152" marR="73152">
                    <a:solidFill>
                      <a:srgbClr val="FFFFFF"/>
                    </a:solidFill>
                  </a:tcPr>
                </a:tc>
                <a:tc>
                  <a:txBody>
                    <a:bodyPr/>
                    <a:lstStyle/>
                    <a:p>
                      <a:r>
                        <a:rPr sz="1500">
                          <a:solidFill>
                            <a:srgbClr val="12302D"/>
                          </a:solidFill>
                          <a:latin typeface="Calibri"/>
                        </a:rPr>
                        <a:t>identical, 4 s</a:t>
                      </a:r>
                    </a:p>
                  </a:txBody>
                  <a:tcPr marL="73152" marR="73152">
                    <a:solidFill>
                      <a:srgbClr val="FFFFFF"/>
                    </a:solidFill>
                  </a:tcPr>
                </a:tc>
              </a:tr>
            </a:tbl>
          </a:graphicData>
        </a:graphic>
      </p:graphicFrame>
      <p:pic>
        <p:nvPicPr>
          <p:cNvPr id="7" name="Picture 6" descr="alert-firing.png"/>
          <p:cNvPicPr>
            <a:picLocks noChangeAspect="1"/>
          </p:cNvPicPr>
          <p:nvPr/>
        </p:nvPicPr>
        <p:blipFill>
          <a:blip r:embed="rId3"/>
          <a:stretch>
            <a:fillRect/>
          </a:stretch>
        </p:blipFill>
        <p:spPr>
          <a:xfrm>
            <a:off x="7781544" y="1645920"/>
            <a:ext cx="4096511" cy="2560320"/>
          </a:xfrm>
          <a:prstGeom prst="rect">
            <a:avLst/>
          </a:prstGeom>
          <a:ln w="12700">
            <a:solidFill>
              <a:srgbClr val="B9CFCB"/>
            </a:solidFill>
          </a:ln>
        </p:spPr>
      </p:pic>
      <p:sp>
        <p:nvSpPr>
          <p:cNvPr id="8" name="TextBox 7"/>
          <p:cNvSpPr txBox="1"/>
          <p:nvPr/>
        </p:nvSpPr>
        <p:spPr>
          <a:xfrm>
            <a:off x="7772400" y="4224527"/>
            <a:ext cx="4114800" cy="320040"/>
          </a:xfrm>
          <a:prstGeom prst="rect">
            <a:avLst/>
          </a:prstGeom>
          <a:noFill/>
        </p:spPr>
        <p:txBody>
          <a:bodyPr wrap="square">
            <a:spAutoFit/>
          </a:bodyPr>
          <a:lstStyle/>
          <a:p>
            <a:pPr>
              <a:spcAft>
                <a:spcPts val="600"/>
              </a:spcAft>
            </a:pPr>
            <a:r>
              <a:rPr sz="1100" b="0">
                <a:solidFill>
                  <a:srgbClr val="5B726F"/>
                </a:solidFill>
                <a:latin typeface="Calibri"/>
              </a:rPr>
              <a:t>Prometheus: the alert firing during the drill</a:t>
            </a:r>
          </a:p>
        </p:txBody>
      </p:sp>
      <p:sp>
        <p:nvSpPr>
          <p:cNvPr id="9" name="TextBox 8"/>
          <p:cNvSpPr txBox="1"/>
          <p:nvPr/>
        </p:nvSpPr>
        <p:spPr>
          <a:xfrm>
            <a:off x="548640" y="5029200"/>
            <a:ext cx="11155680" cy="1280160"/>
          </a:xfrm>
          <a:prstGeom prst="rect">
            <a:avLst/>
          </a:prstGeom>
          <a:noFill/>
        </p:spPr>
        <p:txBody>
          <a:bodyPr wrap="square">
            <a:spAutoFit/>
          </a:bodyPr>
          <a:lstStyle/>
          <a:p>
            <a:pPr>
              <a:spcAft>
                <a:spcPts val="800"/>
              </a:spcAft>
            </a:pPr>
            <a:r>
              <a:rPr sz="1600" b="0">
                <a:solidFill>
                  <a:srgbClr val="12302D"/>
                </a:solidFill>
                <a:latin typeface="Calibri"/>
              </a:rPr>
              <a:t>•  The method: baseline, one change, the same measurement again, then write down the trade-off.</a:t>
            </a:r>
          </a:p>
          <a:p>
            <a:pPr>
              <a:spcAft>
                <a:spcPts val="800"/>
              </a:spcAft>
            </a:pPr>
            <a:r>
              <a:rPr sz="1600" b="0">
                <a:solidFill>
                  <a:srgbClr val="12302D"/>
                </a:solidFill>
                <a:latin typeface="Calibri"/>
              </a:rPr>
              <a:t>•  The samples are small and from one laptop. The documents in the repository say so.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Decisions, trade-offs and what I left out</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Knowing what not to build is part of the job</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13 / 14</a:t>
            </a:r>
          </a:p>
        </p:txBody>
      </p:sp>
      <p:sp>
        <p:nvSpPr>
          <p:cNvPr id="6" name="Rounded Rectangle 5"/>
          <p:cNvSpPr/>
          <p:nvPr/>
        </p:nvSpPr>
        <p:spPr>
          <a:xfrm>
            <a:off x="548640" y="164592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8 s longer per pod in every rollout</a:t>
            </a:r>
          </a:p>
          <a:p>
            <a:pPr algn="ctr"/>
            <a:r>
              <a:rPr sz="1200">
                <a:solidFill>
                  <a:srgbClr val="5B726F"/>
                </a:solidFill>
                <a:latin typeface="Calibri"/>
              </a:rPr>
              <a:t>the price of losing no requests</a:t>
            </a:r>
          </a:p>
        </p:txBody>
      </p:sp>
      <p:sp>
        <p:nvSpPr>
          <p:cNvPr id="7" name="Rounded Rectangle 6"/>
          <p:cNvSpPr/>
          <p:nvPr/>
        </p:nvSpPr>
        <p:spPr>
          <a:xfrm>
            <a:off x="548640" y="265176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About a minute longer per pipeline run</a:t>
            </a:r>
          </a:p>
          <a:p>
            <a:pPr algn="ctr"/>
            <a:r>
              <a:rPr sz="1200">
                <a:solidFill>
                  <a:srgbClr val="5B726F"/>
                </a:solidFill>
                <a:latin typeface="Calibri"/>
              </a:rPr>
              <a:t>the price of signed, verified images (143 s vs 202 s and 214 s)</a:t>
            </a:r>
          </a:p>
        </p:txBody>
      </p:sp>
      <p:sp>
        <p:nvSpPr>
          <p:cNvPr id="8" name="Rounded Rectangle 7"/>
          <p:cNvSpPr/>
          <p:nvPr/>
        </p:nvSpPr>
        <p:spPr>
          <a:xfrm>
            <a:off x="548640" y="365760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Backup stays in the same cluster</a:t>
            </a:r>
          </a:p>
          <a:p>
            <a:pPr algn="ctr"/>
            <a:r>
              <a:rPr sz="1200">
                <a:solidFill>
                  <a:srgbClr val="5B726F"/>
                </a:solidFill>
                <a:latin typeface="Calibri"/>
              </a:rPr>
              <a:t>covers mistakes, not the loss of the cluster</a:t>
            </a:r>
          </a:p>
        </p:txBody>
      </p:sp>
      <p:sp>
        <p:nvSpPr>
          <p:cNvPr id="9" name="Rounded Rectangle 8"/>
          <p:cNvSpPr/>
          <p:nvPr/>
        </p:nvSpPr>
        <p:spPr>
          <a:xfrm>
            <a:off x="548640" y="4663440"/>
            <a:ext cx="5394960" cy="8686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One database pod</a:t>
            </a:r>
          </a:p>
          <a:p>
            <a:pPr algn="ctr"/>
            <a:r>
              <a:rPr sz="1200">
                <a:solidFill>
                  <a:srgbClr val="5B726F"/>
                </a:solidFill>
                <a:latin typeface="Calibri"/>
              </a:rPr>
              <a:t>a 6 s outage remains, now visible to the alerts</a:t>
            </a:r>
          </a:p>
        </p:txBody>
      </p:sp>
      <p:sp>
        <p:nvSpPr>
          <p:cNvPr id="10" name="TextBox 9"/>
          <p:cNvSpPr txBox="1"/>
          <p:nvPr/>
        </p:nvSpPr>
        <p:spPr>
          <a:xfrm>
            <a:off x="6309360" y="1554480"/>
            <a:ext cx="5577840" cy="4206240"/>
          </a:xfrm>
          <a:prstGeom prst="rect">
            <a:avLst/>
          </a:prstGeom>
          <a:noFill/>
        </p:spPr>
        <p:txBody>
          <a:bodyPr wrap="square">
            <a:spAutoFit/>
          </a:bodyPr>
          <a:lstStyle/>
          <a:p>
            <a:pPr>
              <a:spcAft>
                <a:spcPts val="800"/>
              </a:spcAft>
            </a:pPr>
            <a:r>
              <a:rPr sz="1800" b="1">
                <a:solidFill>
                  <a:srgbClr val="12302D"/>
                </a:solidFill>
                <a:latin typeface="Calibri"/>
              </a:rPr>
              <a:t>•  Not done, on purpose</a:t>
            </a:r>
          </a:p>
          <a:p>
            <a:pPr>
              <a:spcAft>
                <a:spcPts val="800"/>
              </a:spcAft>
            </a:pPr>
            <a:r>
              <a:rPr sz="1800" b="0">
                <a:solidFill>
                  <a:srgbClr val="12302D"/>
                </a:solidFill>
                <a:latin typeface="Calibri"/>
              </a:rPr>
              <a:t>•  Load test and tuning</a:t>
            </a:r>
          </a:p>
          <a:p>
            <a:pPr>
              <a:spcAft>
                <a:spcPts val="800"/>
              </a:spcAft>
            </a:pPr>
            <a:r>
              <a:rPr sz="1800" b="0">
                <a:solidFill>
                  <a:srgbClr val="12302D"/>
                </a:solidFill>
                <a:latin typeface="Calibri"/>
              </a:rPr>
              <a:t>•  200 thousand row query plans</a:t>
            </a:r>
          </a:p>
          <a:p>
            <a:pPr>
              <a:spcAft>
                <a:spcPts val="800"/>
              </a:spcAft>
            </a:pPr>
            <a:r>
              <a:rPr sz="1800" b="0">
                <a:solidFill>
                  <a:srgbClr val="12302D"/>
                </a:solidFill>
                <a:latin typeface="Calibri"/>
              </a:rPr>
              <a:t>•  Right-sizing from measured usage</a:t>
            </a:r>
          </a:p>
          <a:p>
            <a:pPr>
              <a:spcAft>
                <a:spcPts val="800"/>
              </a:spcAft>
            </a:pPr>
            <a:r>
              <a:rPr sz="1800" b="0">
                <a:solidFill>
                  <a:srgbClr val="12302D"/>
                </a:solidFill>
                <a:latin typeface="Calibri"/>
              </a:rPr>
              <a:t>•  Rollback drill</a:t>
            </a:r>
          </a:p>
          <a:p>
            <a:pPr>
              <a:spcAft>
                <a:spcPts val="800"/>
              </a:spcAft>
            </a:pPr>
            <a:r>
              <a:rPr sz="1800" b="0">
                <a:solidFill>
                  <a:srgbClr val="12302D"/>
                </a:solidFill>
                <a:latin typeface="Calibri"/>
              </a:rPr>
              <a:t>•  Automated promotion</a:t>
            </a:r>
          </a:p>
          <a:p>
            <a:pPr>
              <a:spcAft>
                <a:spcPts val="800"/>
              </a:spcAft>
            </a:pPr>
            <a:r>
              <a:rPr sz="1800" b="0">
                <a:solidFill>
                  <a:srgbClr val="12302D"/>
                </a:solidFill>
                <a:latin typeface="Calibri"/>
              </a:rPr>
              <a:t>•  Network policies</a:t>
            </a:r>
          </a:p>
          <a:p>
            <a:pPr>
              <a:spcAft>
                <a:spcPts val="800"/>
              </a:spcAft>
            </a:pPr>
            <a:r>
              <a:rPr sz="1800" b="0">
                <a:solidFill>
                  <a:srgbClr val="12302D"/>
                </a:solidFill>
                <a:latin typeface="Calibri"/>
              </a:rPr>
              <a:t>•  Alert delivery (no Alertmanager)</a:t>
            </a:r>
          </a:p>
        </p:txBody>
      </p:sp>
      <p:sp>
        <p:nvSpPr>
          <p:cNvPr id="11" name="TextBox 10"/>
          <p:cNvSpPr txBox="1"/>
          <p:nvPr/>
        </p:nvSpPr>
        <p:spPr>
          <a:xfrm>
            <a:off x="548640" y="5760720"/>
            <a:ext cx="11155680" cy="548640"/>
          </a:xfrm>
          <a:prstGeom prst="rect">
            <a:avLst/>
          </a:prstGeom>
          <a:noFill/>
        </p:spPr>
        <p:txBody>
          <a:bodyPr wrap="square">
            <a:spAutoFit/>
          </a:bodyPr>
          <a:lstStyle/>
          <a:p>
            <a:pPr>
              <a:spcAft>
                <a:spcPts val="600"/>
              </a:spcAft>
            </a:pPr>
            <a:r>
              <a:rPr sz="1400" b="0">
                <a:solidFill>
                  <a:srgbClr val="5B726F"/>
                </a:solidFill>
                <a:latin typeface="Calibri"/>
              </a:rPr>
              <a:t>12 decision records in docs/adr explain the choices and what I would do in production.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400" b="1">
                <a:solidFill>
                  <a:srgbClr val="12302D"/>
                </a:solidFill>
                <a:latin typeface="Calibri"/>
              </a:rPr>
              <a:t>From a change to a running system</a:t>
            </a:r>
          </a:p>
        </p:txBody>
      </p:sp>
      <p:sp>
        <p:nvSpPr>
          <p:cNvPr id="4" name="TextBox 3"/>
          <p:cNvSpPr txBox="1"/>
          <p:nvPr/>
        </p:nvSpPr>
        <p:spPr>
          <a:xfrm>
            <a:off x="548640" y="1005840"/>
            <a:ext cx="11155680" cy="457200"/>
          </a:xfrm>
          <a:prstGeom prst="rect">
            <a:avLst/>
          </a:prstGeom>
          <a:noFill/>
        </p:spPr>
        <p:txBody>
          <a:bodyPr wrap="square">
            <a:spAutoFit/>
          </a:bodyPr>
          <a:lstStyle/>
          <a:p>
            <a:r>
              <a:rPr sz="1800">
                <a:solidFill>
                  <a:srgbClr val="5B726F"/>
                </a:solidFill>
                <a:latin typeface="Calibri"/>
              </a:rPr>
              <a:t>I rehearsed the whole loop, and here is what I learned</a:t>
            </a:r>
          </a:p>
        </p:txBody>
      </p:sp>
      <p:sp>
        <p:nvSpPr>
          <p:cNvPr id="5" name="TextBox 4"/>
          <p:cNvSpPr txBox="1"/>
          <p:nvPr/>
        </p:nvSpPr>
        <p:spPr>
          <a:xfrm>
            <a:off x="548640" y="6446520"/>
            <a:ext cx="11155680" cy="320040"/>
          </a:xfrm>
          <a:prstGeom prst="rect">
            <a:avLst/>
          </a:prstGeom>
          <a:noFill/>
        </p:spPr>
        <p:txBody>
          <a:bodyPr wrap="none">
            <a:spAutoFit/>
          </a:bodyPr>
          <a:lstStyle/>
          <a:p>
            <a:r>
              <a:rPr sz="1100">
                <a:solidFill>
                  <a:srgbClr val="5B726F"/>
                </a:solidFill>
                <a:latin typeface="Calibri"/>
              </a:rPr>
              <a:t>CampusSlot   |   Ujjwal Jain   |   14 / 14</a:t>
            </a:r>
          </a:p>
        </p:txBody>
      </p:sp>
      <p:sp>
        <p:nvSpPr>
          <p:cNvPr id="6" name="Rounded Rectangle 5"/>
          <p:cNvSpPr/>
          <p:nvPr/>
        </p:nvSpPr>
        <p:spPr>
          <a:xfrm>
            <a:off x="548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1. Change</a:t>
            </a:r>
          </a:p>
          <a:p>
            <a:pPr algn="ctr"/>
            <a:r>
              <a:rPr sz="1200">
                <a:solidFill>
                  <a:srgbClr val="5B726F"/>
                </a:solidFill>
                <a:latin typeface="Calibri"/>
              </a:rPr>
              <a:t>one line on the page</a:t>
            </a:r>
          </a:p>
        </p:txBody>
      </p:sp>
      <p:sp>
        <p:nvSpPr>
          <p:cNvPr id="7" name="Rounded Rectangle 6"/>
          <p:cNvSpPr/>
          <p:nvPr/>
        </p:nvSpPr>
        <p:spPr>
          <a:xfrm>
            <a:off x="2834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2. Commit and push</a:t>
            </a:r>
          </a:p>
          <a:p>
            <a:pPr algn="ctr"/>
            <a:r>
              <a:rPr sz="1200">
                <a:solidFill>
                  <a:srgbClr val="5B726F"/>
                </a:solidFill>
                <a:latin typeface="Calibri"/>
              </a:rPr>
              <a:t>to GitHub</a:t>
            </a:r>
          </a:p>
        </p:txBody>
      </p:sp>
      <p:sp>
        <p:nvSpPr>
          <p:cNvPr id="8" name="Rounded Rectangle 7"/>
          <p:cNvSpPr/>
          <p:nvPr/>
        </p:nvSpPr>
        <p:spPr>
          <a:xfrm>
            <a:off x="5120640" y="1645920"/>
            <a:ext cx="2011680" cy="1097280"/>
          </a:xfrm>
          <a:prstGeom prst="roundRect">
            <a:avLst>
              <a:gd name="adj" fmla="val 12000"/>
            </a:avLst>
          </a:prstGeom>
          <a:solidFill>
            <a:srgbClr val="D7ECE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3. Pipeline</a:t>
            </a:r>
          </a:p>
          <a:p>
            <a:pPr algn="ctr"/>
            <a:r>
              <a:rPr sz="1200">
                <a:solidFill>
                  <a:srgbClr val="5B726F"/>
                </a:solidFill>
                <a:latin typeface="Calibri"/>
              </a:rPr>
              <a:t>test, scan, build, push</a:t>
            </a:r>
          </a:p>
        </p:txBody>
      </p:sp>
      <p:sp>
        <p:nvSpPr>
          <p:cNvPr id="9" name="Rounded Rectangle 8"/>
          <p:cNvSpPr/>
          <p:nvPr/>
        </p:nvSpPr>
        <p:spPr>
          <a:xfrm>
            <a:off x="7406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4. Deploy</a:t>
            </a:r>
          </a:p>
          <a:p>
            <a:pPr algn="ctr"/>
            <a:r>
              <a:rPr sz="1200">
                <a:solidFill>
                  <a:srgbClr val="5B726F"/>
                </a:solidFill>
                <a:latin typeface="Calibri"/>
              </a:rPr>
              <a:t>that exact commit</a:t>
            </a:r>
          </a:p>
        </p:txBody>
      </p:sp>
      <p:sp>
        <p:nvSpPr>
          <p:cNvPr id="10" name="Rounded Rectangle 9"/>
          <p:cNvSpPr/>
          <p:nvPr/>
        </p:nvSpPr>
        <p:spPr>
          <a:xfrm>
            <a:off x="9692640" y="1645920"/>
            <a:ext cx="2011680" cy="1097280"/>
          </a:xfrm>
          <a:prstGeom prst="roundRect">
            <a:avLst>
              <a:gd name="adj" fmla="val 12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2302D"/>
                </a:solidFill>
                <a:latin typeface="Calibri"/>
              </a:rPr>
              <a:t>5. Verify</a:t>
            </a:r>
          </a:p>
          <a:p>
            <a:pPr algn="ctr"/>
            <a:r>
              <a:rPr sz="1200">
                <a:solidFill>
                  <a:srgbClr val="5B726F"/>
                </a:solidFill>
                <a:latin typeface="Calibri"/>
              </a:rPr>
              <a:t>page, version, data</a:t>
            </a:r>
          </a:p>
        </p:txBody>
      </p:sp>
      <p:cxnSp>
        <p:nvCxnSpPr>
          <p:cNvPr id="11" name="Connector 10"/>
          <p:cNvCxnSpPr/>
          <p:nvPr/>
        </p:nvCxnSpPr>
        <p:spPr>
          <a:xfrm>
            <a:off x="2560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32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8320" y="2194560"/>
            <a:ext cx="274320" cy="0"/>
          </a:xfrm>
          <a:prstGeom prst="line">
            <a:avLst/>
          </a:prstGeom>
          <a:ln w="28575">
            <a:solidFill>
              <a:srgbClr val="0F766E"/>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548640" y="3200400"/>
          <a:ext cx="5486400" cy="1828800"/>
        </p:xfrm>
        <a:graphic>
          <a:graphicData uri="http://schemas.openxmlformats.org/drawingml/2006/table">
            <a:tbl>
              <a:tblPr firstRow="1" bandRow="1">
                <a:tableStyleId>{5C22544A-7EE6-4342-B048-85BDC9FD1C3A}</a:tableStyleId>
              </a:tblPr>
              <a:tblGrid>
                <a:gridCol w="3566160"/>
                <a:gridCol w="1920240"/>
              </a:tblGrid>
              <a:tr h="365760">
                <a:tc>
                  <a:txBody>
                    <a:bodyPr/>
                    <a:lstStyle/>
                    <a:p>
                      <a:r>
                        <a:rPr sz="1500" b="1">
                          <a:solidFill>
                            <a:srgbClr val="FFFFFF"/>
                          </a:solidFill>
                          <a:latin typeface="Calibri"/>
                        </a:rPr>
                        <a:t>Result</a:t>
                      </a:r>
                    </a:p>
                  </a:txBody>
                  <a:tcPr marL="73152" marR="73152">
                    <a:solidFill>
                      <a:srgbClr val="0F766E"/>
                    </a:solidFill>
                  </a:tcPr>
                </a:tc>
                <a:tc>
                  <a:txBody>
                    <a:bodyPr/>
                    <a:lstStyle/>
                    <a:p>
                      <a:r>
                        <a:rPr sz="1500" b="1">
                          <a:solidFill>
                            <a:srgbClr val="FFFFFF"/>
                          </a:solidFill>
                          <a:latin typeface="Calibri"/>
                        </a:rPr>
                        <a:t>Number</a:t>
                      </a:r>
                    </a:p>
                  </a:txBody>
                  <a:tcPr marL="73152" marR="73152">
                    <a:solidFill>
                      <a:srgbClr val="0F766E"/>
                    </a:solidFill>
                  </a:tcPr>
                </a:tc>
              </a:tr>
              <a:tr h="365760">
                <a:tc>
                  <a:txBody>
                    <a:bodyPr/>
                    <a:lstStyle/>
                    <a:p>
                      <a:r>
                        <a:rPr sz="1500">
                          <a:solidFill>
                            <a:srgbClr val="12302D"/>
                          </a:solidFill>
                          <a:latin typeface="Calibri"/>
                        </a:rPr>
                        <a:t>Automated tests</a:t>
                      </a:r>
                    </a:p>
                  </a:txBody>
                  <a:tcPr marL="73152" marR="73152">
                    <a:solidFill>
                      <a:srgbClr val="FFFFFF"/>
                    </a:solidFill>
                  </a:tcPr>
                </a:tc>
                <a:tc>
                  <a:txBody>
                    <a:bodyPr/>
                    <a:lstStyle/>
                    <a:p>
                      <a:r>
                        <a:rPr sz="1500">
                          <a:solidFill>
                            <a:srgbClr val="12302D"/>
                          </a:solidFill>
                          <a:latin typeface="Calibri"/>
                        </a:rPr>
                        <a:t>46 + 4 + 12</a:t>
                      </a:r>
                    </a:p>
                  </a:txBody>
                  <a:tcPr marL="73152" marR="73152">
                    <a:solidFill>
                      <a:srgbClr val="FFFFFF"/>
                    </a:solidFill>
                  </a:tcPr>
                </a:tc>
              </a:tr>
              <a:tr h="365760">
                <a:tc>
                  <a:txBody>
                    <a:bodyPr/>
                    <a:lstStyle/>
                    <a:p>
                      <a:r>
                        <a:rPr sz="1500">
                          <a:solidFill>
                            <a:srgbClr val="12302D"/>
                          </a:solidFill>
                          <a:latin typeface="Calibri"/>
                        </a:rPr>
                        <a:t>Serious vulnerabilities</a:t>
                      </a:r>
                    </a:p>
                  </a:txBody>
                  <a:tcPr marL="73152" marR="73152">
                    <a:solidFill>
                      <a:srgbClr val="D7ECE9"/>
                    </a:solidFill>
                  </a:tcPr>
                </a:tc>
                <a:tc>
                  <a:txBody>
                    <a:bodyPr/>
                    <a:lstStyle/>
                    <a:p>
                      <a:r>
                        <a:rPr sz="1500">
                          <a:solidFill>
                            <a:srgbClr val="12302D"/>
                          </a:solidFill>
                          <a:latin typeface="Calibri"/>
                        </a:rPr>
                        <a:t>0</a:t>
                      </a:r>
                    </a:p>
                  </a:txBody>
                  <a:tcPr marL="73152" marR="73152">
                    <a:solidFill>
                      <a:srgbClr val="D7ECE9"/>
                    </a:solidFill>
                  </a:tcPr>
                </a:tc>
              </a:tr>
              <a:tr h="365760">
                <a:tc>
                  <a:txBody>
                    <a:bodyPr/>
                    <a:lstStyle/>
                    <a:p>
                      <a:r>
                        <a:rPr sz="1500">
                          <a:solidFill>
                            <a:srgbClr val="12302D"/>
                          </a:solidFill>
                          <a:latin typeface="Calibri"/>
                        </a:rPr>
                        <a:t>Cloud resources built and removed</a:t>
                      </a:r>
                    </a:p>
                  </a:txBody>
                  <a:tcPr marL="73152" marR="73152">
                    <a:solidFill>
                      <a:srgbClr val="FFFFFF"/>
                    </a:solidFill>
                  </a:tcPr>
                </a:tc>
                <a:tc>
                  <a:txBody>
                    <a:bodyPr/>
                    <a:lstStyle/>
                    <a:p>
                      <a:r>
                        <a:rPr sz="1500">
                          <a:solidFill>
                            <a:srgbClr val="12302D"/>
                          </a:solidFill>
                          <a:latin typeface="Calibri"/>
                        </a:rPr>
                        <a:t>48</a:t>
                      </a:r>
                    </a:p>
                  </a:txBody>
                  <a:tcPr marL="73152" marR="73152">
                    <a:solidFill>
                      <a:srgbClr val="FFFFFF"/>
                    </a:solidFill>
                  </a:tcPr>
                </a:tc>
              </a:tr>
              <a:tr h="365760">
                <a:tc>
                  <a:txBody>
                    <a:bodyPr/>
                    <a:lstStyle/>
                    <a:p>
                      <a:r>
                        <a:rPr sz="1500">
                          <a:solidFill>
                            <a:srgbClr val="12302D"/>
                          </a:solidFill>
                          <a:latin typeface="Calibri"/>
                        </a:rPr>
                        <a:t>Pipeline, full green run</a:t>
                      </a:r>
                    </a:p>
                  </a:txBody>
                  <a:tcPr marL="73152" marR="73152">
                    <a:solidFill>
                      <a:srgbClr val="D7ECE9"/>
                    </a:solidFill>
                  </a:tcPr>
                </a:tc>
                <a:tc>
                  <a:txBody>
                    <a:bodyPr/>
                    <a:lstStyle/>
                    <a:p>
                      <a:r>
                        <a:rPr sz="1500">
                          <a:solidFill>
                            <a:srgbClr val="12302D"/>
                          </a:solidFill>
                          <a:latin typeface="Calibri"/>
                        </a:rPr>
                        <a:t>about 4 minutes</a:t>
                      </a:r>
                    </a:p>
                  </a:txBody>
                  <a:tcPr marL="73152" marR="73152">
                    <a:solidFill>
                      <a:srgbClr val="D7ECE9"/>
                    </a:solidFill>
                  </a:tcPr>
                </a:tc>
              </a:tr>
            </a:tbl>
          </a:graphicData>
        </a:graphic>
      </p:graphicFrame>
      <p:sp>
        <p:nvSpPr>
          <p:cNvPr id="16" name="TextBox 15"/>
          <p:cNvSpPr txBox="1"/>
          <p:nvPr/>
        </p:nvSpPr>
        <p:spPr>
          <a:xfrm>
            <a:off x="548640" y="5212080"/>
            <a:ext cx="5486400" cy="1097280"/>
          </a:xfrm>
          <a:prstGeom prst="rect">
            <a:avLst/>
          </a:prstGeom>
          <a:noFill/>
        </p:spPr>
        <p:txBody>
          <a:bodyPr wrap="square">
            <a:spAutoFit/>
          </a:bodyPr>
          <a:lstStyle/>
          <a:p>
            <a:pPr>
              <a:spcAft>
                <a:spcPts val="600"/>
              </a:spcAft>
            </a:pPr>
            <a:r>
              <a:rPr sz="1400" b="0">
                <a:solidFill>
                  <a:srgbClr val="5B726F"/>
                </a:solidFill>
                <a:latin typeface="Calibri"/>
              </a:rPr>
              <a:t>In my rehearsal the first run failed in my own test. I fixed the test, then the new version went live and I checked it from the outside.</a:t>
            </a:r>
          </a:p>
        </p:txBody>
      </p:sp>
      <p:sp>
        <p:nvSpPr>
          <p:cNvPr id="17" name="TextBox 16"/>
          <p:cNvSpPr txBox="1"/>
          <p:nvPr/>
        </p:nvSpPr>
        <p:spPr>
          <a:xfrm>
            <a:off x="6400800" y="3108960"/>
            <a:ext cx="5486400" cy="3200400"/>
          </a:xfrm>
          <a:prstGeom prst="rect">
            <a:avLst/>
          </a:prstGeom>
          <a:noFill/>
        </p:spPr>
        <p:txBody>
          <a:bodyPr wrap="square">
            <a:spAutoFit/>
          </a:bodyPr>
          <a:lstStyle/>
          <a:p>
            <a:pPr>
              <a:spcAft>
                <a:spcPts val="900"/>
              </a:spcAft>
            </a:pPr>
            <a:r>
              <a:rPr sz="1700" b="1">
                <a:solidFill>
                  <a:srgbClr val="12302D"/>
                </a:solidFill>
                <a:latin typeface="Calibri"/>
              </a:rPr>
              <a:t>What I learned</a:t>
            </a:r>
          </a:p>
          <a:p>
            <a:pPr>
              <a:spcAft>
                <a:spcPts val="900"/>
              </a:spcAft>
            </a:pPr>
            <a:r>
              <a:rPr sz="1700" b="0">
                <a:solidFill>
                  <a:srgbClr val="12302D"/>
                </a:solidFill>
                <a:latin typeface="Calibri"/>
              </a:rPr>
              <a:t>Test the system as it really runs.</a:t>
            </a:r>
          </a:p>
          <a:p>
            <a:pPr>
              <a:spcAft>
                <a:spcPts val="900"/>
              </a:spcAft>
            </a:pPr>
            <a:r>
              <a:rPr sz="1700" b="0">
                <a:solidFill>
                  <a:srgbClr val="12302D"/>
                </a:solidFill>
                <a:latin typeface="Calibri"/>
              </a:rPr>
              <a:t>Write the failures down, they teach the most.</a:t>
            </a:r>
          </a:p>
          <a:p>
            <a:pPr>
              <a:spcAft>
                <a:spcPts val="900"/>
              </a:spcAft>
            </a:pPr>
            <a:r>
              <a:rPr sz="1700" b="0">
                <a:solidFill>
                  <a:srgbClr val="12302D"/>
                </a:solidFill>
                <a:latin typeface="Calibri"/>
              </a:rPr>
              <a:t>A clean scan is not proof of safety.</a:t>
            </a:r>
          </a:p>
          <a:p>
            <a:pPr>
              <a:spcAft>
                <a:spcPts val="900"/>
              </a:spcAft>
            </a:pPr>
            <a:r>
              <a:rPr sz="1700" b="0">
                <a:solidFill>
                  <a:srgbClr val="12302D"/>
                </a:solidFill>
                <a:latin typeface="Calibri"/>
              </a:rPr>
              <a:t>Cost control is part of the design.</a:t>
            </a:r>
          </a:p>
          <a:p>
            <a:pPr>
              <a:spcAft>
                <a:spcPts val="900"/>
              </a:spcAft>
            </a:pPr>
            <a:r>
              <a:rPr sz="1700" b="0">
                <a:solidFill>
                  <a:srgbClr val="12302D"/>
                </a:solidFill>
                <a:latin typeface="Calibri"/>
              </a:rPr>
              <a:t>Git as the source of truth makes changes visible and reversible.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